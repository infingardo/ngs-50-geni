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457200"/>
            <a:ext cx="1645920" cy="457200"/>
          </a:xfrm>
          <a:prstGeom prst="rect">
            <a:avLst/>
          </a:prstGeom>
          <a:solidFill>
            <a:srgbClr val="2E6DA4">
              <a:alpha val="60000"/>
            </a:srgbClr>
          </a:solidFill>
          <a:ln w="12700">
            <a:solidFill>
              <a:srgbClr val="2E6DA4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1097280"/>
            <a:ext cx="1645920" cy="457200"/>
          </a:xfrm>
          <a:prstGeom prst="rect">
            <a:avLst/>
          </a:prstGeom>
          <a:solidFill>
            <a:srgbClr val="2E6DA4">
              <a:alpha val="52000"/>
            </a:srgbClr>
          </a:solidFill>
          <a:ln w="12700">
            <a:solidFill>
              <a:srgbClr val="2E6DA4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1737360"/>
            <a:ext cx="1645920" cy="457200"/>
          </a:xfrm>
          <a:prstGeom prst="rect">
            <a:avLst/>
          </a:prstGeom>
          <a:solidFill>
            <a:srgbClr val="2E6DA4">
              <a:alpha val="44000"/>
            </a:srgbClr>
          </a:solidFill>
          <a:ln w="12700">
            <a:solidFill>
              <a:srgbClr val="2E6DA4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2377440"/>
            <a:ext cx="1645920" cy="457200"/>
          </a:xfrm>
          <a:prstGeom prst="rect">
            <a:avLst/>
          </a:prstGeom>
          <a:solidFill>
            <a:srgbClr val="2E6DA4">
              <a:alpha val="36000"/>
            </a:srgbClr>
          </a:solidFill>
          <a:ln w="12700">
            <a:solidFill>
              <a:srgbClr val="2E6DA4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3017520"/>
            <a:ext cx="1645920" cy="457200"/>
          </a:xfrm>
          <a:prstGeom prst="rect">
            <a:avLst/>
          </a:prstGeom>
          <a:solidFill>
            <a:srgbClr val="2E6DA4">
              <a:alpha val="28000"/>
            </a:srgbClr>
          </a:solidFill>
          <a:ln w="12700">
            <a:solidFill>
              <a:srgbClr val="2E6DA4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3657600"/>
            <a:ext cx="1645920" cy="457200"/>
          </a:xfrm>
          <a:prstGeom prst="rect">
            <a:avLst/>
          </a:prstGeom>
          <a:solidFill>
            <a:srgbClr val="2E6DA4">
              <a:alpha val="20000"/>
            </a:srgbClr>
          </a:solidFill>
          <a:ln w="12700">
            <a:solidFill>
              <a:srgbClr val="2E6DA4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18872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</a:rPr>
              <a:t>PANNELLO NGS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74320" y="192024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028090"/>
                </a:solidFill>
              </a:rPr>
              <a:t>50 GENI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274320" y="27889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6E4F0"/>
                </a:solidFill>
              </a:rPr>
              <a:t>Guida alla Refertazione per l'Anatomopatologo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74320" y="3310128"/>
            <a:ext cx="4114800" cy="1829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40156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E0"/>
                </a:solidFill>
              </a:rPr>
              <a:t>S.C. Anatomia Patologica  ·  ASST FBF Sacco  ·  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" y="38404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9EC0"/>
                </a:solidFill>
              </a:rPr>
              <a:t>Classificazione varianti: AMP/ASCO/CAP (Li et al., JMD 2017)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7A9EC0"/>
                </a:solidFill>
              </a:rPr>
              <a:t>Database: OncoKB · ClinVar · COSMIC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6E4F0"/>
                </a:solidFill>
              </a:rPr>
              <a:t>S.C. Anatomia Patologica · ASST FBF Sacco · Uso interno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37160" y="457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Cos'è un Pannello NGS Targeted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" y="457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Principi fondamentali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640080"/>
            <a:ext cx="8595360" cy="777240"/>
          </a:xfrm>
          <a:prstGeom prst="rect">
            <a:avLst/>
          </a:prstGeom>
          <a:solidFill>
            <a:srgbClr val="D6E4F0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 xml:space="preserve">NGS (Next Generation Sequencing):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</a:rPr>
              <a:t xml:space="preserve">sequenziamento massivo parallelo che legge milioni di frammenti di DNA/RNA contemporaneamente, analizzando regioni selezionate di </a:t>
            </a:r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50 geni oncologici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</a:rPr>
              <a:t xml:space="preserve"> in un'unica corsa strumentale.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572768"/>
            <a:ext cx="27432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5819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🧬  Tecnologia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1993392"/>
            <a:ext cx="24688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4A4A"/>
                </a:solidFill>
              </a:rPr>
              <a:t>Amplicon-based targeted panel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4A4A"/>
                </a:solidFill>
              </a:rPr>
              <a:t>Input: DNA + RNA da FFPE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4A4A"/>
                </a:solidFill>
              </a:rPr>
              <a:t>Output: report bioinformatico strutturato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572768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572768"/>
            <a:ext cx="27432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5819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🔬  Differenza dalla PCR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37560" y="1993392"/>
            <a:ext cx="24688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4A4A"/>
                </a:solidFill>
              </a:rPr>
              <a:t>PCR → un gene alla volta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4A4A"/>
                </a:solidFill>
              </a:rPr>
              <a:t>Sanger → una regione alla volta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4A4A"/>
                </a:solidFill>
              </a:rPr>
              <a:t>NGS → 50 geni in parallelo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1572768"/>
            <a:ext cx="2743200" cy="237744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572768"/>
            <a:ext cx="274320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5819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⚠️  Prerequisito critico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63640" y="1993392"/>
            <a:ext cx="24688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0392B"/>
                </a:solidFill>
              </a:rPr>
              <a:t>Cellularità tumorale ≥20%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0392B"/>
                </a:solidFill>
              </a:rPr>
              <a:t>Stimata dal patologo su H&amp;E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0392B"/>
                </a:solidFill>
              </a:rPr>
              <a:t>Prima dell'invio in BioMol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1148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2E6DA4"/>
                </a:solidFill>
              </a:rPr>
              <a:t>Il referto NGS è un documento clinico-diagnostico: non un dump bioinformatico. Il patologo interpreta e contestualizza.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6E4F0"/>
                </a:solidFill>
              </a:rPr>
              <a:t>S.C. Anatomia Patologica · ASST FBF Sacco · Uso interno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37160" y="457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Le 4 Categorie Analitiche del Pannello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" y="594360"/>
            <a:ext cx="20574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594360"/>
            <a:ext cx="2057400" cy="10972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6217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10058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SNV &amp; InsDel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444752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538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6B"/>
                </a:solidFill>
              </a:rPr>
              <a:t>50 geni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20040" y="173736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A4A4A"/>
                </a:solidFill>
              </a:rPr>
              <a:t>Mutazioni puntiformi e piccole inserzioni/delezioni nei geni targetizzati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01752" y="2926080"/>
            <a:ext cx="1920240" cy="182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0175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i="1" dirty="0">
                <a:solidFill>
                  <a:srgbClr val="1B3A6B"/>
                </a:solidFill>
              </a:rPr>
              <a:t>VAF come indicatore di cellularità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423160" y="594360"/>
            <a:ext cx="20574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23160" y="594360"/>
            <a:ext cx="2057400" cy="109728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96312" y="6217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514600" y="10058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CNV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14600" y="1444752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14538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6DA4"/>
                </a:solidFill>
              </a:rPr>
              <a:t>3 validati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514600" y="173736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A4A4A"/>
                </a:solidFill>
              </a:rPr>
              <a:t>Copy Number Variations: amplificazioni e delezioni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496312" y="2926080"/>
            <a:ext cx="1920240" cy="1828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14600" y="30175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i="1" dirty="0">
                <a:solidFill>
                  <a:srgbClr val="2E6DA4"/>
                </a:solidFill>
              </a:rPr>
              <a:t>Solo EGFR · ERBB2 · MET validati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17720" y="594360"/>
            <a:ext cx="20574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594360"/>
            <a:ext cx="205740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90872" y="6217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03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709160" y="10058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Fusioni geniche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09160" y="1444752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14538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090"/>
                </a:solidFill>
              </a:rPr>
              <a:t>12 geni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709160" y="173736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A4A4A"/>
                </a:solidFill>
              </a:rPr>
              <a:t>Riarrangiamenti cromosomici con trascritti ibridi oncogenici (da RNA)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90872" y="2926080"/>
            <a:ext cx="192024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0175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i="1" dirty="0">
                <a:solidFill>
                  <a:srgbClr val="028090"/>
                </a:solidFill>
              </a:rPr>
              <a:t>ALK · RET · NTRK · ROS1 · FGFR · altri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812280" y="594360"/>
            <a:ext cx="20574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12280" y="594360"/>
            <a:ext cx="2057400" cy="1097280"/>
          </a:xfrm>
          <a:prstGeom prst="rect">
            <a:avLst/>
          </a:prstGeom>
          <a:solidFill>
            <a:srgbClr val="1B7A40"/>
          </a:solidFill>
          <a:ln w="12700">
            <a:solidFill>
              <a:srgbClr val="1B7A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85432" y="6217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04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6903720" y="10058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MSI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903720" y="1444752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03720" y="14538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7A40"/>
                </a:solidFill>
              </a:rPr>
              <a:t>126 marcatori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903720" y="173736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A4A4A"/>
                </a:solidFill>
              </a:rPr>
              <a:t>Instabilità dei microsatelliti — deficit sistema MMR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885432" y="2926080"/>
            <a:ext cx="1920240" cy="18288"/>
          </a:xfrm>
          <a:prstGeom prst="rect">
            <a:avLst/>
          </a:prstGeom>
          <a:solidFill>
            <a:srgbClr val="1B7A40"/>
          </a:solidFill>
          <a:ln w="12700">
            <a:solidFill>
              <a:srgbClr val="1B7A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03720" y="30175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i="1" dirty="0">
                <a:solidFill>
                  <a:srgbClr val="1B7A40"/>
                </a:solidFill>
              </a:rPr>
              <a:t>8 Bethesda + 118 mononucleotidici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6E4F0"/>
                </a:solidFill>
              </a:rPr>
              <a:t>S.C. Anatomia Patologica · ASST FBF Sacco · Uso interno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37160" y="457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SNV e InsDel — Varianti puntiformi e piccole inserzioni/delezioni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" y="457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Categoria 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594360"/>
            <a:ext cx="40233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6583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Definizioni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969264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80" b="1" dirty="0">
                <a:solidFill>
                  <a:srgbClr val="1B3A6B"/>
                </a:solidFill>
              </a:rPr>
              <a:t>SNV</a:t>
            </a:r>
            <a:pPr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4A4A4A"/>
                </a:solidFill>
              </a:rPr>
              <a:t xml:space="preserve"> (Single Nucleotide Variant): sostituzione di una singola base nucleotidica.
</a:t>
            </a:r>
            <a:pPr indent="0" marL="0">
              <a:lnSpc>
                <a:spcPct val="130000"/>
              </a:lnSpc>
              <a:buNone/>
            </a:pPr>
            <a:r>
              <a:rPr lang="en-US" sz="880" b="1" dirty="0">
                <a:solidFill>
                  <a:srgbClr val="4A4A4A"/>
                </a:solidFill>
              </a:rPr>
              <a:t xml:space="preserve">Esempi: </a:t>
            </a:r>
            <a:pPr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4A4A4A"/>
                </a:solidFill>
              </a:rPr>
              <a:t>KRAS p.G12D (esone 2), BRAF p.V600E (esone 15)
</a:t>
            </a:r>
            <a:pPr indent="0" marL="0">
              <a:lnSpc>
                <a:spcPct val="130000"/>
              </a:lnSpc>
              <a:buNone/>
            </a:pPr>
            <a:r>
              <a:rPr lang="en-US" sz="880" b="1" dirty="0">
                <a:solidFill>
                  <a:srgbClr val="1B3A6B"/>
                </a:solidFill>
              </a:rPr>
              <a:t>InsDel</a:t>
            </a:r>
            <a:pPr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4A4A4A"/>
                </a:solidFill>
              </a:rPr>
              <a:t>: inserzione o delezione di pochi nucleotidi.
</a:t>
            </a:r>
            <a:pPr indent="0" marL="0">
              <a:lnSpc>
                <a:spcPct val="130000"/>
              </a:lnSpc>
              <a:buNone/>
            </a:pPr>
            <a:r>
              <a:rPr lang="en-US" sz="880" b="1" dirty="0">
                <a:solidFill>
                  <a:srgbClr val="4A4A4A"/>
                </a:solidFill>
              </a:rPr>
              <a:t xml:space="preserve">Esempi: </a:t>
            </a:r>
            <a:pPr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4A4A4A"/>
                </a:solidFill>
              </a:rPr>
              <a:t>Del esone 19 EGFR (sensibilizzante per TKI), Ins esone 20 ERBB2
</a:t>
            </a:r>
            <a:pPr indent="0" marL="0">
              <a:lnSpc>
                <a:spcPct val="130000"/>
              </a:lnSpc>
              <a:buNone/>
            </a:pPr>
            <a:r>
              <a:rPr lang="en-US" sz="880" b="1" dirty="0">
                <a:solidFill>
                  <a:srgbClr val="E07B39"/>
                </a:solidFill>
              </a:rPr>
              <a:t>⚠  Attenzione:</a:t>
            </a:r>
            <a:pPr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4A4A4A"/>
                </a:solidFill>
              </a:rPr>
              <a:t xml:space="preserve"> ogni gene è coperto solo su esoni specifici — non l'intero gene.</a:t>
            </a:r>
            <a:endParaRPr lang="en-US" sz="8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4A4A4A"/>
                </a:solidFill>
              </a:rPr>
              <a:t>Un risultato negativo non esclude mutazioni in regioni non targetizzate.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434840" y="594360"/>
            <a:ext cx="44805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6280" y="6583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VAF — Variant Allele Frequency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26280" y="93268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4A4A"/>
                </a:solidFill>
              </a:rPr>
              <a:t>Percentuale di reads portanti la variante sul totale — proxy di cellularità tumorale e clonalità</a:t>
            </a:r>
            <a:endParaRPr lang="en-US" sz="7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261872"/>
          <a:ext cx="4343400" cy="2286000"/>
        </p:xfrm>
        <a:graphic>
          <a:graphicData uri="http://schemas.openxmlformats.org/drawingml/2006/table">
            <a:tbl>
              <a:tblPr/>
              <a:tblGrid>
                <a:gridCol w="914400"/>
                <a:gridCol w="2194560"/>
                <a:gridCol w="12344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VAF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Interpretazione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Azione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40–50%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Mutazione eterozigote in campione ad alta cellularità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B7A40"/>
                          </a:solidFill>
                        </a:rPr>
                        <a:t>Refertare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20–40%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Cellularità ridotta o perdita eterozigosi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6DA4"/>
                          </a:solidFill>
                        </a:rPr>
                        <a:t>Refertare con nota VAF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5–20%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Bassa cellularità / clone minoritario / artefatto FFPE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07B39"/>
                          </a:solidFill>
                        </a:rPr>
                        <a:t>Cautela — valutare morfologia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&lt; 5%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Limite analitico — possibile falso positivo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</a:rPr>
                        <a:t>Non refertare senza verifica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480560" y="370332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E07B39"/>
                </a:solidFill>
              </a:rPr>
              <a:t>⚠  Fissazione prolungata in formalina → artefatti C&gt;T → possibili falsi positivi.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E07B39"/>
                </a:solidFill>
              </a:rPr>
              <a:t>I pipeline FFPE-aware filtrano questi artefatti, ma campioni degradati rimangono a rischio.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6E4F0"/>
                </a:solidFill>
              </a:rPr>
              <a:t>S.C. Anatomia Patologica · ASST FBF Sacco · Uso interno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37160" y="457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CNV — Copy Number Variations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" y="457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Categoria 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594360"/>
            <a:ext cx="86868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5943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Validati clinicamente SOLO 3 geni:  EGFR  ·  ERBB2  ·  MET  — Gli altri geni del pannello non vanno refertati per CNV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1170432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4A4A4A"/>
                </a:solidFill>
              </a:rPr>
              <a:t>Le CNV comprendono amplificazioni geniche e delezioni omozigoti. Il dato CNV-NGS da FFPE va sempre considerato un segnale di allerta, non un gold standard terapeutico.</a:t>
            </a:r>
            <a:endParaRPr lang="en-US" sz="88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572768"/>
          <a:ext cx="8686800" cy="1828800"/>
        </p:xfrm>
        <a:graphic>
          <a:graphicData uri="http://schemas.openxmlformats.org/drawingml/2006/table">
            <a:tbl>
              <a:tblPr/>
              <a:tblGrid>
                <a:gridCol w="1828800"/>
                <a:gridCol w="2468880"/>
                <a:gridCol w="265176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</a:rPr>
                        <a:t>Metodo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</a:rPr>
                        <a:t>Vantaggi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</a:rPr>
                        <a:t>Limiti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</a:rPr>
                        <a:t>Uso raccomandato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2E6DA4"/>
                          </a:solidFill>
                        </a:rPr>
                        <a:t>CNV da NGS (questo pannello)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Integrato nel workflow — no test aggiuntivo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E07B39"/>
                          </a:solidFill>
                        </a:rPr>
                        <a:t>Validato solo EGFR/ERBB2/MET · meno accurato su FFPE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Screening + trigger per reflex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028090"/>
                          </a:solidFill>
                        </a:rPr>
                        <a:t>FISH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Gold standard · validazione regolatoria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Sonda specifica · costo e tempo aggiuntivi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</a:rPr>
                        <a:t>Conferma per decisione terapeutica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1B7A40"/>
                          </a:solidFill>
                        </a:rPr>
                        <a:t>IHC (es. HER2)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Rapida · economica · valuta espressione proteica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Semiquantitativa · non rileva amplif. senza sovraespressione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Primo livello in gastrico/polmone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228600" y="3520440"/>
            <a:ext cx="8686800" cy="594360"/>
          </a:xfrm>
          <a:prstGeom prst="rect">
            <a:avLst/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3538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Regola operativa: se NGS rileva amplificazione ERBB2 e non è disponibile il dato IHC/FISH → attivare reflex test prima della refertazione definitiva.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53312" y="4206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6B"/>
                </a:solidFill>
              </a:rPr>
              <a:t>EGFR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353312" y="44348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4A4A"/>
                </a:solidFill>
              </a:rPr>
              <a:t>Polmone · TKI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3474720" y="4206240"/>
            <a:ext cx="457200" cy="45720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05072" y="4206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6B"/>
                </a:solidFill>
              </a:rPr>
              <a:t>ERBB2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005072" y="44348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4A4A"/>
                </a:solidFill>
              </a:rPr>
              <a:t>Gastrico/Polmone · T-DXd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126480" y="4206240"/>
            <a:ext cx="457200" cy="45720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56832" y="4206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6B"/>
                </a:solidFill>
              </a:rPr>
              <a:t>MET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656832" y="44348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4A4A"/>
                </a:solidFill>
              </a:rPr>
              <a:t>Polmone · Tepotinib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6E4F0"/>
                </a:solidFill>
              </a:rPr>
              <a:t>S.C. Anatomia Patologica · ASST FBF Sacco · Uso interno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37160" y="457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Fusioni Geniche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" y="457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Categoria 03 — rilevamento da RNA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594360"/>
            <a:ext cx="41148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6583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Cosa sono &amp; Come vengono rilevate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96012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A4A4A"/>
                </a:solidFill>
              </a:rPr>
              <a:t>Riarrangiamenti cromosomici → trascritti ibridi con attività oncogenica costitutiva.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A4A4A"/>
                </a:solidFill>
              </a:rPr>
              <a:t>Rilevamento: il pannello analizza l'RNA identificando reads che attraversano breakpoint non canonici.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A4A4A"/>
                </a:solidFill>
              </a:rPr>
              <a:t>⚠  Richiedono RNA di qualità sufficiente — i blocchi FFPE &gt;5 anni o con fissazione subottimale possono dare falsi negativi.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239572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</a:rPr>
              <a:t>Geni coperti: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65176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651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ALK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645920" y="265176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2651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FGFR1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971800" y="265176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71800" y="2651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FGFR2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9718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FGFR3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645920" y="297180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0" y="29718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MET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971800" y="297180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71800" y="29718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NRG1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" y="329184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2918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NTRK1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645920" y="329184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0" y="32918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NTRK2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971800" y="329184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71800" y="32918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NTRK3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" y="361188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6118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PPARG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645920" y="361188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45920" y="36118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RET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971800" y="361188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71800" y="36118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ROS1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26280" y="594360"/>
            <a:ext cx="4389120" cy="192024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26280" y="594360"/>
            <a:ext cx="438912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603504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⚠  ALK Expression Imbalance — Nota Critica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617720" y="950976"/>
            <a:ext cx="42062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80" dirty="0">
                <a:solidFill>
                  <a:srgbClr val="C0392B"/>
                </a:solidFill>
              </a:rPr>
              <a:t>L'ALK expression imbalance NON equivale a fusione ALK confermata.</a:t>
            </a:r>
            <a:endParaRPr lang="en-US" sz="880" dirty="0"/>
          </a:p>
          <a:p>
            <a:pPr indent="0" marL="0">
              <a:lnSpc>
                <a:spcPct val="135000"/>
              </a:lnSpc>
              <a:buNone/>
            </a:pPr>
            <a:endParaRPr lang="en-US" sz="8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80" dirty="0">
                <a:solidFill>
                  <a:srgbClr val="C0392B"/>
                </a:solidFill>
              </a:rPr>
              <a:t>È uno squilibrio di reads tra esoni 5' e 3': possibile fusione con breakpoint inusuale non coperto dai primer standard.</a:t>
            </a:r>
            <a:endParaRPr lang="en-US" sz="880" dirty="0"/>
          </a:p>
          <a:p>
            <a:pPr indent="0" marL="0">
              <a:lnSpc>
                <a:spcPct val="135000"/>
              </a:lnSpc>
              <a:buNone/>
            </a:pPr>
            <a:endParaRPr lang="en-US" sz="8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80" dirty="0">
                <a:solidFill>
                  <a:srgbClr val="C0392B"/>
                </a:solidFill>
              </a:rPr>
              <a:t>→ NON refertare come 'fusione positiva'</a:t>
            </a:r>
            <a:endParaRPr lang="en-US" sz="8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80" dirty="0">
                <a:solidFill>
                  <a:srgbClr val="C0392B"/>
                </a:solidFill>
              </a:rPr>
              <a:t>→ Attivare reflex IHC ALK (D5F3) o FISH se non disponibili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4526280" y="2633472"/>
            <a:ext cx="438912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617720" y="267919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</a:rPr>
              <a:t>Fusioni vs IHC vs FISH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2971800"/>
          <a:ext cx="4389120" cy="13716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Fusione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Metodo preferito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ALK in polmone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IHC D5F3 (&gt;99% spec) → NGS conferma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NTRK1/2/3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IHC pan-TRK screening → NGS conferma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RET, ROS1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NGS spesso unico metodo pratico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NRG1, FGFR rari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NGS — no IHC validata disponibile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7A40"/>
          </a:solidFill>
          <a:ln w="12700">
            <a:solidFill>
              <a:srgbClr val="1B7A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6E4F0"/>
                </a:solidFill>
              </a:rPr>
              <a:t>S.C. Anatomia Patologica · ASST FBF Sacco · Uso interno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37160" y="457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MSI — Instabilità dei Microsatelliti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" y="457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Categoria 04 · Biomarcatore pan-tumorale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594360"/>
            <a:ext cx="868680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1B7A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603504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7A40"/>
                </a:solidFill>
              </a:rPr>
              <a:t>MSI-H → pembrolizumab (approvazione FDA tumor-agnostic 2017 · EMA 2022) — va sempre refertato, indipendentemente dalla sede tumorale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207008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12618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7A40"/>
                </a:solidFill>
              </a:rPr>
              <a:t>Cos'è MSI-H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155448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A4A4A"/>
                </a:solidFill>
              </a:rPr>
              <a:t>Nei tumori con deficit MMR (Mismatch Repair), i microsatelliti — brevi sequenze ripetute in tandem — accumulano inserzioni/delezioni durante la replicazione → alleli di lunghezza alterata = MSI-H.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A4A4A"/>
                </a:solidFill>
              </a:rPr>
              <a:t>È anche surrogato di dMMR → implicazioni per Sindrome di Lynch.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26280" y="1207008"/>
            <a:ext cx="43891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26187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7A40"/>
                </a:solidFill>
              </a:rPr>
              <a:t>Marcatori nel pannello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1572768"/>
            <a:ext cx="2011680" cy="246888"/>
          </a:xfrm>
          <a:prstGeom prst="roundRect">
            <a:avLst>
              <a:gd name="adj" fmla="val 14815"/>
            </a:avLst>
          </a:prstGeom>
          <a:solidFill>
            <a:srgbClr val="E8F5E9"/>
          </a:solidFill>
          <a:ln w="12700">
            <a:solidFill>
              <a:srgbClr val="1B7A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57276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B7A40"/>
                </a:solidFill>
              </a:rPr>
              <a:t>BAT25 (KIT)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766560" y="1572768"/>
            <a:ext cx="2011680" cy="246888"/>
          </a:xfrm>
          <a:prstGeom prst="roundRect">
            <a:avLst>
              <a:gd name="adj" fmla="val 14815"/>
            </a:avLst>
          </a:prstGeom>
          <a:solidFill>
            <a:srgbClr val="E8F5E9"/>
          </a:solidFill>
          <a:ln w="12700">
            <a:solidFill>
              <a:srgbClr val="1B7A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157276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B7A40"/>
                </a:solidFill>
              </a:rPr>
              <a:t>BAT26 (MSH2)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4617720" y="1874520"/>
            <a:ext cx="2011680" cy="246888"/>
          </a:xfrm>
          <a:prstGeom prst="roundRect">
            <a:avLst>
              <a:gd name="adj" fmla="val 14815"/>
            </a:avLst>
          </a:prstGeom>
          <a:solidFill>
            <a:srgbClr val="E8F5E9"/>
          </a:solidFill>
          <a:ln w="12700">
            <a:solidFill>
              <a:srgbClr val="1B7A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87452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B7A40"/>
                </a:solidFill>
              </a:rPr>
              <a:t>CAT25 (CASP2)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6766560" y="1874520"/>
            <a:ext cx="2011680" cy="246888"/>
          </a:xfrm>
          <a:prstGeom prst="roundRect">
            <a:avLst>
              <a:gd name="adj" fmla="val 14815"/>
            </a:avLst>
          </a:prstGeom>
          <a:solidFill>
            <a:srgbClr val="E8F5E9"/>
          </a:solidFill>
          <a:ln w="12700">
            <a:solidFill>
              <a:srgbClr val="1B7A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87452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B7A40"/>
                </a:solidFill>
              </a:rPr>
              <a:t>MONO27 (MAP4K3)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4617720" y="2176272"/>
            <a:ext cx="2011680" cy="246888"/>
          </a:xfrm>
          <a:prstGeom prst="roundRect">
            <a:avLst>
              <a:gd name="adj" fmla="val 14815"/>
            </a:avLst>
          </a:prstGeom>
          <a:solidFill>
            <a:srgbClr val="E8F5E9"/>
          </a:solidFill>
          <a:ln w="12700">
            <a:solidFill>
              <a:srgbClr val="1B7A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217627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B7A40"/>
                </a:solidFill>
              </a:rPr>
              <a:t>NR21 (SLC7A8)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6766560" y="2176272"/>
            <a:ext cx="2011680" cy="246888"/>
          </a:xfrm>
          <a:prstGeom prst="roundRect">
            <a:avLst>
              <a:gd name="adj" fmla="val 14815"/>
            </a:avLst>
          </a:prstGeom>
          <a:solidFill>
            <a:srgbClr val="E8F5E9"/>
          </a:solidFill>
          <a:ln w="12700">
            <a:solidFill>
              <a:srgbClr val="1B7A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217627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B7A40"/>
                </a:solidFill>
              </a:rPr>
              <a:t>NR22 (STT3A)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4617720" y="2478024"/>
            <a:ext cx="2011680" cy="246888"/>
          </a:xfrm>
          <a:prstGeom prst="roundRect">
            <a:avLst>
              <a:gd name="adj" fmla="val 14815"/>
            </a:avLst>
          </a:prstGeom>
          <a:solidFill>
            <a:srgbClr val="E8F5E9"/>
          </a:solidFill>
          <a:ln w="12700">
            <a:solidFill>
              <a:srgbClr val="1B7A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247802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B7A40"/>
                </a:solidFill>
              </a:rPr>
              <a:t>NR24 (ZNF3)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6766560" y="2478024"/>
            <a:ext cx="2011680" cy="246888"/>
          </a:xfrm>
          <a:prstGeom prst="roundRect">
            <a:avLst>
              <a:gd name="adj" fmla="val 14815"/>
            </a:avLst>
          </a:prstGeom>
          <a:solidFill>
            <a:srgbClr val="E8F5E9"/>
          </a:solidFill>
          <a:ln w="12700">
            <a:solidFill>
              <a:srgbClr val="1B7A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247802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B7A40"/>
                </a:solidFill>
              </a:rPr>
              <a:t>NR27 (BIRC3)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4617720" y="2798064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i="1" dirty="0">
                <a:solidFill>
                  <a:srgbClr val="4A4A4A"/>
                </a:solidFill>
              </a:rPr>
              <a:t>+ 118 marcatori mononucleotidici aggiuntivi = 126 totali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28600" y="2944368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</a:rPr>
              <a:t>Confronto tra metodi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200400"/>
          <a:ext cx="8686800" cy="1298448"/>
        </p:xfrm>
        <a:graphic>
          <a:graphicData uri="http://schemas.openxmlformats.org/drawingml/2006/table">
            <a:tbl>
              <a:tblPr/>
              <a:tblGrid>
                <a:gridCol w="2103120"/>
                <a:gridCol w="3383280"/>
                <a:gridCol w="3200400"/>
              </a:tblGrid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Metodo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Vantaggi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Limiti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IHC MMR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(MLH1/MSH2/MSH6/PMS2)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Rapida · economica · identifica proteina persa (Lynch)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Non rileva mutazioni missense con espressione conservata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PCR MSI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(pannello Bethesda)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Gold standard tradizionale · alta specificità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Richiede DNA germinale di riferimento · analisi separata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B7A40"/>
                          </a:solidFill>
                        </a:rPr>
                        <a:t>NGS MSI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B7A40"/>
                          </a:solidFill>
                        </a:rPr>
                        <a:t>(questo pannello)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Integrato · no DNA normale · 126 marcatori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07B39"/>
                          </a:solidFill>
                        </a:rPr>
                        <a:t>FFPE degradato → falsi positivi · validare internamente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6E4F0"/>
                </a:solidFill>
              </a:rPr>
              <a:t>S.C. Anatomia Patologica · ASST FBF Sacco · Uso interno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37160" y="457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Classificazione delle Varianti — Sistema Tier AMP/ASCO/CAP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" y="457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Li et al., J Mol Diagn 2017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594360"/>
            <a:ext cx="20574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594360"/>
            <a:ext cx="2057400" cy="822960"/>
          </a:xfrm>
          <a:prstGeom prst="rect">
            <a:avLst/>
          </a:prstGeom>
          <a:solidFill>
            <a:srgbClr val="1B7A40"/>
          </a:solidFill>
          <a:ln w="12700">
            <a:solidFill>
              <a:srgbClr val="1B7A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" y="621792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TIER</a:t>
            </a:r>
            <a:endParaRPr lang="en-US" sz="1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658368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Forte evidenza clinica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38328" y="150876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30" dirty="0">
                <a:solidFill>
                  <a:srgbClr val="4A4A4A"/>
                </a:solidFill>
              </a:rPr>
              <a:t>Farmaco approvato FDA/EMA per quella indicazione specifica. Predittivo validato in trial prospettici.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301752" y="3063240"/>
            <a:ext cx="1920240" cy="1188720"/>
          </a:xfrm>
          <a:prstGeom prst="rect">
            <a:avLst/>
          </a:prstGeom>
          <a:solidFill>
            <a:srgbClr val="1B7A40">
              <a:alpha val="12000"/>
            </a:srgbClr>
          </a:solidFill>
          <a:ln w="12700">
            <a:solidFill>
              <a:srgbClr val="1B7A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30906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B7A40"/>
                </a:solidFill>
              </a:rPr>
              <a:t>→ nel referto: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38328" y="32918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B7A40"/>
                </a:solidFill>
              </a:rPr>
              <a:t>Sezione principale — in evidenza con implicazione terapeutica esplicita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441448" y="594360"/>
            <a:ext cx="20574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41448" y="594360"/>
            <a:ext cx="2057400" cy="8229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621792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TIER</a:t>
            </a:r>
            <a:endParaRPr lang="en-US" sz="1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II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64408" y="658368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Evidenza potenziale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551176" y="150876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30" dirty="0">
                <a:solidFill>
                  <a:srgbClr val="4A4A4A"/>
                </a:solidFill>
              </a:rPr>
              <a:t>Target in sperimentazione clinica. Approvazione in altra sede tumorale. Basket trial. Evidenza biologica solida.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2514600" y="3063240"/>
            <a:ext cx="1920240" cy="1188720"/>
          </a:xfrm>
          <a:prstGeom prst="rect">
            <a:avLst/>
          </a:prstGeom>
          <a:solidFill>
            <a:srgbClr val="2E6DA4">
              <a:alpha val="12000"/>
            </a:srgbClr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51176" y="30906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E6DA4"/>
                </a:solidFill>
              </a:rPr>
              <a:t>→ nel referto: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551176" y="32918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2E6DA4"/>
                </a:solidFill>
              </a:rPr>
              <a:t>Sezione principale con nota contestualizzante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54296" y="594360"/>
            <a:ext cx="20574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54296" y="594360"/>
            <a:ext cx="2057400" cy="8229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7448" y="621792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TIER</a:t>
            </a:r>
            <a:endParaRPr lang="en-US" sz="1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III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77256" y="658368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VUS — Significato Incerto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64024" y="150876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30" dirty="0">
                <a:solidFill>
                  <a:srgbClr val="4A4A4A"/>
                </a:solidFill>
              </a:rPr>
              <a:t>Variante non classificata o con evidenze insufficienti. Biologicamente plausibile ma non dimostrata.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4727448" y="3063240"/>
            <a:ext cx="1920240" cy="1188720"/>
          </a:xfrm>
          <a:prstGeom prst="rect">
            <a:avLst/>
          </a:prstGeom>
          <a:solidFill>
            <a:srgbClr val="E07B39">
              <a:alpha val="12000"/>
            </a:srgbClr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64024" y="30906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07B39"/>
                </a:solidFill>
              </a:rPr>
              <a:t>→ nel referto: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764024" y="32918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E07B39"/>
                </a:solidFill>
              </a:rPr>
              <a:t>Sezione separata con disclaimer standard esplicito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867144" y="594360"/>
            <a:ext cx="20574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867144" y="594360"/>
            <a:ext cx="2057400" cy="82296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0296" y="621792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TIER</a:t>
            </a:r>
            <a:endParaRPr lang="en-US" sz="1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IV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690104" y="658368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Variante benigna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976872" y="150876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30" dirty="0">
                <a:solidFill>
                  <a:srgbClr val="4A4A4A"/>
                </a:solidFill>
              </a:rPr>
              <a:t>Presente in popolazione generale. Nessuna evidenza di patogenicità somatica rilevante.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6940296" y="3063240"/>
            <a:ext cx="1920240" cy="1188720"/>
          </a:xfrm>
          <a:prstGeom prst="rect">
            <a:avLst/>
          </a:prstGeom>
          <a:solidFill>
            <a:srgbClr val="4A4A4A">
              <a:alpha val="12000"/>
            </a:srgbClr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76872" y="30906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A4A4A"/>
                </a:solidFill>
              </a:rPr>
              <a:t>→ nel referto: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976872" y="32918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4A4A4A"/>
                </a:solidFill>
              </a:rPr>
              <a:t>Non refertare (o sezione opzionale separata)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6E4F0"/>
                </a:solidFill>
              </a:rPr>
              <a:t>S.C. Anatomia Patologica · ASST FBF Sacco · Uso interno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37160" y="457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Rilevanza Clinica per Sede Tumorale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" y="457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⭐⭐⭐ alta · ⭐⭐ potenziale · ⭐ limitata · — N/A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594360"/>
          <a:ext cx="8869680" cy="4206240"/>
        </p:xfrm>
        <a:graphic>
          <a:graphicData uri="http://schemas.openxmlformats.org/drawingml/2006/table">
            <a:tbl>
              <a:tblPr/>
              <a:tblGrid>
                <a:gridCol w="1965960"/>
                <a:gridCol w="822960"/>
                <a:gridCol w="731520"/>
                <a:gridCol w="868680"/>
                <a:gridCol w="960120"/>
                <a:gridCol w="822960"/>
                <a:gridCol w="2697480"/>
              </a:tblGrid>
              <a:tr h="3235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Gene / Alterazione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Polmone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CRC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Gastrico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Melanoma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Tiroide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Farmaco principale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35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2E6DA4"/>
                          </a:solidFill>
                        </a:rPr>
                        <a:t>EGFR SNV/CNV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⭐⭐⭐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Osimertinib · Gefitinib (TKI)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5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2E6DA4"/>
                          </a:solidFill>
                        </a:rPr>
                        <a:t>KRAS/NRAS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⭐⭐⭐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Sotorasib (G12C) · anti-EGFR esclusione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5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2E6DA4"/>
                          </a:solidFill>
                        </a:rPr>
                        <a:t>BRAF V600E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⭐⭐⭐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⭐⭐⭐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Dabrafenib + Trametinib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5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2E6DA4"/>
                          </a:solidFill>
                        </a:rPr>
                        <a:t>ALK fusioni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⭐⭐⭐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Alectinib · Brigatinib · Lorlatinib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5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2E6DA4"/>
                          </a:solidFill>
                        </a:rPr>
                        <a:t>ROS1 fusioni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⭐⭐⭐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Entrectinib · Crizotinib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5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2E6DA4"/>
                          </a:solidFill>
                        </a:rPr>
                        <a:t>NTRK1/2/3 fusioni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Larotrectinib · Entrectinib (pan-tumor)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5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2E6DA4"/>
                          </a:solidFill>
                        </a:rPr>
                        <a:t>RET fusioni/mut.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⭐⭐⭐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Selpercatinib · Pralsetinib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5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2E6DA4"/>
                          </a:solidFill>
                        </a:rPr>
                        <a:t>ERBB2/CNV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⭐⭐⭐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Trastuzumab · T-DXd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5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2E6DA4"/>
                          </a:solidFill>
                        </a:rPr>
                        <a:t>MET ex14 skip/CNV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⭐⭐⭐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Tepotinib · Capmatinib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5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2E6DA4"/>
                          </a:solidFill>
                        </a:rPr>
                        <a:t>FGFR1/2/3 fusioni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Erdafitinib (urotelio) · Pemigatinib (colangio)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5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1B7A40"/>
                          </a:solidFill>
                        </a:rPr>
                        <a:t>MSI-H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⭐⭐⭐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1B7A40"/>
                          </a:solidFill>
                        </a:rPr>
                        <a:t>Pembrolizumab (pan-tumor)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5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2E6DA4"/>
                          </a:solidFill>
                        </a:rPr>
                        <a:t>POLE mut.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Predittivo immunotp. (TMB ultraelevata)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6E4F0"/>
                </a:solidFill>
              </a:rPr>
              <a:t>S.C. Anatomia Patologica · ASST FBF Sacco · Uso interno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37160" y="457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Struttura Consigliata del Referto NGS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" y="457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Il clinico deve trovare le info actionable in 10 secondi · Parte B: usa l’Assistente di Refertazione NGS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594360"/>
            <a:ext cx="2084832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594360"/>
            <a:ext cx="2084832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" y="612648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[1]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621792"/>
            <a:ext cx="1536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DATI TECNICI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0040" y="1325880"/>
            <a:ext cx="1920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</a:rPr>
              <a:t>Nome kit e versione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</a:rPr>
              <a:t>Tipo campione · fissazione · anno blocco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</a:rPr>
              <a:t>Cellularità tumorale stimata (%)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</a:rPr>
              <a:t>Copertura media (X) · limite VAF (%)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41448" y="594360"/>
            <a:ext cx="2084832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41448" y="594360"/>
            <a:ext cx="2084832" cy="65836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612648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[2]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944368" y="621792"/>
            <a:ext cx="1536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RISULTATI PRINCIPALI (Tier I–II)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32888" y="1325880"/>
            <a:ext cx="1920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</a:rPr>
              <a:t>Alterazioni actionable per quel tumore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</a:rPr>
              <a:t>MSI status (sempre)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</a:rPr>
              <a:t>CNV validati: EGFR · ERBB2 · MET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</a:rPr>
              <a:t>Fusioni rilevate con gene partner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54296" y="594360"/>
            <a:ext cx="2084832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54296" y="594360"/>
            <a:ext cx="2084832" cy="6583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27448" y="612648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[3]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157216" y="621792"/>
            <a:ext cx="1536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ALTRI RISCONTRI MOLECOLARI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45736" y="1325880"/>
            <a:ext cx="1920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</a:rPr>
              <a:t>VUS con disclaimer esplicito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</a:rPr>
              <a:t>Varianti Tier II in altri tumori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</a:rPr>
              <a:t>ALK expression imbalance (se presente)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</a:rPr>
              <a:t>→ NON modificano terapia attuale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867144" y="594360"/>
            <a:ext cx="2084832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67144" y="594360"/>
            <a:ext cx="2084832" cy="65836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0296" y="612648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[4]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370064" y="621792"/>
            <a:ext cx="1536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NOTE TECNICHE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958584" y="1325880"/>
            <a:ext cx="1920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</a:rPr>
              <a:t>Database: OncoKB + versione + data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</a:rPr>
              <a:t>Limitazioni specifiche del campione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</a:rPr>
              <a:t>Pannello completo disponibile su richiesta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</a:rPr>
              <a:t>Concordanza MSI/IHC MMR se disponibile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6E4F0"/>
                </a:solidFill>
              </a:rPr>
              <a:t>S.C. Anatomia Patologica · ASST FBF Sacco · Uso interno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37160" y="457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Checklist Pre-Firma — Controllo Qualità del Referto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" y="612648"/>
            <a:ext cx="4251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612648"/>
            <a:ext cx="201168" cy="18288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675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6DA4"/>
                </a:solidFill>
              </a:rPr>
              <a:t>Campione &amp; Qualità analitica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A4A4A"/>
                </a:solidFill>
              </a:rPr>
              <a:t>☐  Cellularità tumorale stimata dichiarata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A4A4A"/>
                </a:solidFill>
              </a:rPr>
              <a:t>☐  Copertura media e limite VAF riportati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A4A4A"/>
                </a:solidFill>
              </a:rPr>
              <a:t>☐  Qualità RNA dichiarata se fusioni refertate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A4A4A"/>
                </a:solidFill>
              </a:rPr>
              <a:t>☐  Malfissazione/degradazione segnalata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09160" y="612648"/>
            <a:ext cx="4251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612648"/>
            <a:ext cx="201168" cy="1828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6675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</a:rPr>
              <a:t>Alterazioni principali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83480" y="960120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A4A4A"/>
                </a:solidFill>
              </a:rPr>
              <a:t>☐  Tier I contestualizzato per quel tumore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A4A4A"/>
                </a:solidFill>
              </a:rPr>
              <a:t>☐  Implicazione terapeutica esplicitata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A4A4A"/>
                </a:solidFill>
              </a:rPr>
              <a:t>☐  MSI con concordanza IHC MMR se disponibile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A4A4A"/>
                </a:solidFill>
              </a:rPr>
              <a:t>☐  CNV: solo i 3 validati — dichiarato nel referto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2578608"/>
            <a:ext cx="4251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578608"/>
            <a:ext cx="201168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334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Fusioni &amp; marker speciali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2926080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A4A4A"/>
                </a:solidFill>
              </a:rPr>
              <a:t>☐  Fusioni: gene partner e tier di rilevanza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A4A4A"/>
                </a:solidFill>
              </a:rPr>
              <a:t>☐  ALK imbalance: trigger reflex, non fusione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A4A4A"/>
                </a:solidFill>
              </a:rPr>
              <a:t>☐  POLE mut.: valutata con TMB e MSI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A4A4A"/>
                </a:solidFill>
              </a:rPr>
              <a:t>☐  Nessuna sovra-interpretazione dei dati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09160" y="2578608"/>
            <a:ext cx="4251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578608"/>
            <a:ext cx="201168" cy="18288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26334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7B39"/>
                </a:solidFill>
              </a:rPr>
              <a:t>VUS &amp; documentazione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83480" y="2926080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A4A4A"/>
                </a:solidFill>
              </a:rPr>
              <a:t>☐  VUS in sezione separata con disclaimer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A4A4A"/>
                </a:solidFill>
              </a:rPr>
              <a:t>☐  Nessuna VUS spacciata come patogenetica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A4A4A"/>
                </a:solidFill>
              </a:rPr>
              <a:t>☐  Database e versione citati nel referto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A4A4A"/>
                </a:solidFill>
              </a:rPr>
              <a:t>☐  Data di annotazione riportata (le classi cambiano)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28600" y="461772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E6DA4"/>
                </a:solidFill>
              </a:rPr>
              <a:t>Nessuna di queste domande è banale — ognuna copre un punto di fallimento reale nella refertazione NGS.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6E4F0"/>
                </a:solidFill>
              </a:rPr>
              <a:t>S.C. Anatomia Patologica · ASST FBF Sacco · Uso interno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37160" y="457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Trappole Frequenti &amp; Note Critiche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" y="612648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722376"/>
            <a:ext cx="384048" cy="38404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22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70408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07B39"/>
                </a:solidFill>
              </a:rPr>
              <a:t>Molte VUS nel report — cosa faccio?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161288"/>
            <a:ext cx="397764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3444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A4A4A"/>
                </a:solidFill>
              </a:rPr>
              <a:t>Le VUS sono inevitabili con 50 geni. Sezione separata + disclaimer standard. Non commentarle come 'potenzialmente significative'. Non cambiano la terapia attuale. Rivalutazione periodica possibile.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09160" y="612648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722376"/>
            <a:ext cx="384048" cy="384048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722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0" y="70408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E6DA4"/>
                </a:solidFill>
              </a:rPr>
              <a:t>TMB richiesta — il pannello è sufficiente?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1161288"/>
            <a:ext cx="397764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23444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A4A4A"/>
                </a:solidFill>
              </a:rPr>
              <a:t>Con 50 geni la stima TMB è indicativa, non precisa per cutoff terapeutici. Refertare con disclaimer: 'TMB stimata su pannello targeted — per decisioni terapeutiche basate su TMB considerare pannello esteso.'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2624328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734056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271576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0392B"/>
                </a:solidFill>
              </a:rPr>
              <a:t>MSI-NGS e IHC MMR discordano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172968"/>
            <a:ext cx="397764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4612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A4A4A"/>
                </a:solidFill>
              </a:rPr>
              <a:t>Eseguire PCR MSI tradizionale come arbitro. Possibili cause: mutazione missense MMR con espressione conservata, FFPE degradato (falsi positivi MSI-NGS), eterogeneità tumorale intratumorale.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09160" y="2624328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734056"/>
            <a:ext cx="384048" cy="38404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0" y="271576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B3A6B"/>
                </a:solidFill>
              </a:rPr>
              <a:t>Il clinico chiede: 'perché non il gene X?'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46320" y="3172968"/>
            <a:ext cx="397764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24612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A4A4A"/>
                </a:solidFill>
              </a:rPr>
              <a:t>Il pannello copre regioni esoniche specifiche di 50 geni predefiniti. Un negativo non esclude mutazioni in regioni non targetizzate. Per geni non coperti: test dedicato (FISH, Sanger, pannello esteso).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028090"/>
                </a:solidFill>
              </a:rPr>
              <a:t>Take-home messages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1704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6E4F0"/>
                </a:solidFill>
              </a:rPr>
              <a:t>Il pannello fa 4 cose diverse: SNV/InsDel, CNV (solo 3 validati), Fusioni (da RNA), MSI. Ogni categoria ha limiti propri.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8549640" cy="9144"/>
          </a:xfrm>
          <a:prstGeom prst="rect">
            <a:avLst/>
          </a:prstGeom>
          <a:solidFill>
            <a:srgbClr val="2E6DA4">
              <a:alpha val="40000"/>
            </a:srgbClr>
          </a:solidFill>
          <a:ln w="12700">
            <a:solidFill>
              <a:srgbClr val="2E6DA4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0136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18288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6E4F0"/>
                </a:solidFill>
              </a:rPr>
              <a:t>La cellularità tumorale va stimata dal patologo su H&amp;E prima dell'invio. Sotto il 20% la sensibilità si riduce significativamente.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322576"/>
            <a:ext cx="8549640" cy="9144"/>
          </a:xfrm>
          <a:prstGeom prst="rect">
            <a:avLst/>
          </a:prstGeom>
          <a:solidFill>
            <a:srgbClr val="2E6DA4">
              <a:alpha val="40000"/>
            </a:srgbClr>
          </a:solidFill>
          <a:ln w="12700">
            <a:solidFill>
              <a:srgbClr val="2E6DA4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5973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24871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6E4F0"/>
                </a:solidFill>
              </a:rPr>
              <a:t>Usa l’Assistente di Refertazione NGS per la Parte B: sede, gene, variante, VAF → frase già classificata. Le VUS in sezione separata con disclaimer standard.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980944"/>
            <a:ext cx="8549640" cy="9144"/>
          </a:xfrm>
          <a:prstGeom prst="rect">
            <a:avLst/>
          </a:prstGeom>
          <a:solidFill>
            <a:srgbClr val="2E6DA4">
              <a:alpha val="40000"/>
            </a:srgbClr>
          </a:solidFill>
          <a:ln w="12700">
            <a:solidFill>
              <a:srgbClr val="2E6DA4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11810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31455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6E4F0"/>
                </a:solidFill>
              </a:rPr>
              <a:t>MSI-H va sempre refertato indipendente dalla sede. ALK imbalance non è fusione confermata — trigger per reflex, non risultato definitivo.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639312"/>
            <a:ext cx="8549640" cy="9144"/>
          </a:xfrm>
          <a:prstGeom prst="rect">
            <a:avLst/>
          </a:prstGeom>
          <a:solidFill>
            <a:srgbClr val="2E6DA4">
              <a:alpha val="40000"/>
            </a:srgbClr>
          </a:solidFill>
          <a:ln w="12700">
            <a:solidFill>
              <a:srgbClr val="2E6DA4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77647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38039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6E4F0"/>
                </a:solidFill>
              </a:rPr>
              <a:t>Il dato CNV-NGS è un segnale di allerta: per decisioni terapeutiche ERBB2 serve conferma IHC/FISH. Cita sempre database e data di annotazione.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" y="47548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A9EC0"/>
                </a:solidFill>
              </a:rPr>
              <a:t>S.C. Anatomia Patologica · ASST FBF Sacco · 2026 · Uso interno didattico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Pannello NGS 50 Geni — Guida alla Refertazione</dc:title>
  <dc:subject>PptxGenJS Presentation</dc:subject>
  <dc:creator>S.C. Anatomia Patologica — ASST FBF Sacco</dc:creator>
  <cp:lastModifiedBy>S.C. Anatomia Patologica — ASST FBF Sacco</cp:lastModifiedBy>
  <cp:revision>1</cp:revision>
  <dcterms:created xsi:type="dcterms:W3CDTF">2026-03-13T18:37:16Z</dcterms:created>
  <dcterms:modified xsi:type="dcterms:W3CDTF">2026-03-13T18:37:16Z</dcterms:modified>
</cp:coreProperties>
</file>