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02920" cy="507949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74320"/>
            <a:ext cx="1005840" cy="1005840"/>
          </a:xfrm>
          <a:prstGeom prst="ellipse">
            <a:avLst/>
          </a:prstGeom>
          <a:solidFill>
            <a:srgbClr val="5B21B6">
              <a:alpha val="18000"/>
            </a:srgbClr>
          </a:solidFill>
          <a:ln w="12700">
            <a:solidFill>
              <a:srgbClr val="5B21B6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1005840"/>
            <a:ext cx="1005840" cy="1005840"/>
          </a:xfrm>
          <a:prstGeom prst="ellipse">
            <a:avLst/>
          </a:prstGeom>
          <a:solidFill>
            <a:srgbClr val="5B21B6">
              <a:alpha val="18000"/>
            </a:srgbClr>
          </a:solidFill>
          <a:ln w="12700">
            <a:solidFill>
              <a:srgbClr val="5B21B6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1828800"/>
            <a:ext cx="1005840" cy="1005840"/>
          </a:xfrm>
          <a:prstGeom prst="ellipse">
            <a:avLst/>
          </a:prstGeom>
          <a:solidFill>
            <a:srgbClr val="5B21B6">
              <a:alpha val="18000"/>
            </a:srgbClr>
          </a:solidFill>
          <a:ln w="12700">
            <a:solidFill>
              <a:srgbClr val="5B21B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2651760"/>
            <a:ext cx="1005840" cy="1005840"/>
          </a:xfrm>
          <a:prstGeom prst="ellipse">
            <a:avLst/>
          </a:prstGeom>
          <a:solidFill>
            <a:srgbClr val="5B21B6">
              <a:alpha val="18000"/>
            </a:srgbClr>
          </a:solidFill>
          <a:ln w="12700">
            <a:solidFill>
              <a:srgbClr val="5B21B6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3383280"/>
            <a:ext cx="1005840" cy="1005840"/>
          </a:xfrm>
          <a:prstGeom prst="ellipse">
            <a:avLst/>
          </a:prstGeom>
          <a:solidFill>
            <a:srgbClr val="5B21B6">
              <a:alpha val="18000"/>
            </a:srgbClr>
          </a:solidFill>
          <a:ln w="12700">
            <a:solidFill>
              <a:srgbClr val="5B21B6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PATOLOGICA  ·  ASST FBF SACCO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804672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50 Geni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 colleghi patologi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777240" y="2697480"/>
            <a:ext cx="36576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98064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integra con la diagnosi istologica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fa cambiare idea  ·  Quando conferma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914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Morfologia &amp; molecolare  ·  Reflex IHC/FISH  ·  Quando il NGS smentisce il vetrino  ·  Limiti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integra nel tuo lavoro quotidiano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8631936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658368"/>
            <a:ext cx="201168" cy="129844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024128"/>
            <a:ext cx="548640" cy="548640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24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61872" y="7680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stimi la cellularità su H&amp;E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61872" y="109728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di qualsiasi estrazione, il patologo valuta la cellularità tumorale sul vetrino colorato. Se &lt;20%: il test viene comunque eseguito ma il referto NGS riporta il dato con avvertenza.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2048256"/>
            <a:ext cx="8631936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2048256"/>
            <a:ext cx="201168" cy="12984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414016"/>
            <a:ext cx="548640" cy="54864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14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61872" y="21579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Cristina estrae e sequenzia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61872" y="2487168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Estrazione DNA+RNA da FFPE, sequenziamento con pannello 50 geni. Output del server: varianti, VAF, CNV, fusioni, MSI. Dati grezzi — senza interpretazione clinica.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" y="3438144"/>
            <a:ext cx="8631936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438144"/>
            <a:ext cx="201168" cy="12984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803904"/>
            <a:ext cx="548640" cy="5486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803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61872" y="3547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(o un collega) compila la Parte B e firma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61872" y="3877056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 l’Assistente di Refertazione NGS: selezioni sede, gene e variante, inserisci cellularità e VAF, copi la frase già formulata. Correli con la morfologia e con l’IHC già disponibile. Il referto NGS è un addendum al tuo caso nel LIS Pathox.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FF3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S.C. Anatomia Patologica  ·  ASST FBF Sacco  ·  Pannello NGS 50 Geni  ·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— morfologia + dato molecolare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62179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621792"/>
            <a:ext cx="201168" cy="20574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5953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scarsamente differenziato G3, infiltrato linfocitario peritumorale (tumor-infiltrating lymphocytes), architettura mucinosa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82012" y="71323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7051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67051" y="85953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MSI-H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7051" y="118872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Conferma sospetto Lynch / MMR deficiente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7051" y="147218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IHC MMR: MLH1/MSH2/MSH6/PMS2 — se già non eseguita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62179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621792"/>
            <a:ext cx="201168" cy="2057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83480" y="85953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tubulare G2 classico, CK20+/CDX2+, SATB2+, morfologia convenzionale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71323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0179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20179" y="85953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p.G12D VAF 44%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20179" y="118872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Esclusione anti-EGFR — comunicare all'oncologo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20179" y="147218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reflex IHC necessario. Tier I.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277063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770632"/>
            <a:ext cx="201168" cy="20574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0352" y="300837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tipo cribroide, budding di grado 3 al fronte di invasione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82012" y="286207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7051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67051" y="300837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BRAF V600E VAF 38%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7051" y="333756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Indica triplet therapy (encorafenib+binimetinib+cetuximab)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67051" y="362102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che KRAS/NRAS siano wild-type — richiesto per la tripletta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77063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770632"/>
            <a:ext cx="201168" cy="2057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83480" y="300837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Carcinoma mucinoso G2, componente a cellule ad anello con castone &gt;50%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35140" y="286207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20179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20179" y="300837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ERBB2 amplificato (NGS)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20179" y="333756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Trigger reflex IHC HER2 + FISH se IHC 2+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20179" y="362102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CNV-NGS non è gold standard. IHC/FISH obbligatori prima di refertare come amplificato.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FF3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S.C. Anatomia Patologica  ·  ASST FBF Sacco  ·  Pannello NGS 50 Geni  ·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NSCLC — morfologia + dato molecolare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62179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621792"/>
            <a:ext cx="201168" cy="20574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5953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acinare/papillare, TTF1+, non fumatore, no necrosi. Morfologia 'EGFR-like'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82012" y="71323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7051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67051" y="85953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del19 VAF 41%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7051" y="118872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Tier I — osimertinib. Morfologia coerente.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7051" y="147218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reflex. Dato sufficiente per il clinico.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62179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621792"/>
            <a:ext cx="201168" cy="2057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83480" y="85953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solido G3, TTF1 focale. IHC ALK (D5F3) non eseguita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71323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0179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20179" y="85953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expression imbalance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20179" y="118872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Non è fusione — triggerare IHC ALK D5F3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20179" y="147218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≠ fusione. IHC D5F3 Ventana obbligatoria prima di refertare.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277063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770632"/>
            <a:ext cx="201168" cy="20574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0352" y="300837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Carcinoma squamocellulare G2, CK5/6+, p40+, morfologia classica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82012" y="286207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7051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67051" y="300837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PIK3CA E545K VAF 29%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7051" y="333756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Tier III — VUS, non actionable in carcinoma squamoso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67051" y="362102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PIK3CA non ha indicazione in squamoso polmonare. Refertare con disclaimer VUS.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77063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770632"/>
            <a:ext cx="201168" cy="20574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83480" y="300837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con pattern lepidico predominante, TTF1+, no fumo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35140" y="286207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20179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20179" y="300837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exon 14 skipping VAF 35%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20179" y="333756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Tier I — tepotinib/capmatinib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20179" y="362102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ex14: mutazione splice site, non CNV. Actionable. Verificare assenza EGFR/ALK.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FF3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S.C. Anatomia Patologica  ·  ASST FBF Sacco  ·  Pannello NGS 50 Geni  ·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gastrico e GEJ — morfologia + dato molecolare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62179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621792"/>
            <a:ext cx="201168" cy="20574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5953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tubulare G2, EBV-, HER2 IHC 3+ già noto, Lauren intestinale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82012" y="71323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7051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67051" y="85953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ERBB2 amplificato (NGS concordante con IHC)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7051" y="118872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Tier I — trastuzumab. Dato IHC prevalente, NGS a conferma.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7051" y="147218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HER2 già positiva: NGS è ridondante ma non contraddice. Ok firmare.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62179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621792"/>
            <a:ext cx="201168" cy="20574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83480" y="85953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diffuso a cellule ad anello con castone, CDH1 loss IHC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71323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0179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20179" y="85953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MSI-H + CDH1 frameshift VAF 52%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20179" y="118872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MSI-H: pembrolizumab. CDH1: segnalare sospetto germinale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20179" y="147218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CDH1 somatico vs germinale non distinguibile da FFPE. Segnalare al clinico per counseling genetico.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277063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770632"/>
            <a:ext cx="201168" cy="2057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0352" y="300837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poco coesivo G3, HER2 IHC 0, Lauren diffuso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82012" y="286207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7051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67051" y="300837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FGFR2 amplificato (NGS)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7051" y="333756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Tier II — valutare trial FGFR2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67051" y="362102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FGFR2 CNV-NGS è segnale. Conferma FISH raccomandata prima di indirizzare a trial.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77063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770632"/>
            <a:ext cx="201168" cy="20574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83480" y="300837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tubulo-papillare G2, EBV+, PD-L1 CPS già noto &gt;10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35140" y="286207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20179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20179" y="300837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MSS, nessuna alterazione actionable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20179" y="333756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Nessuna indicazione aggiuntiva da NGS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20179" y="362102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EBV+ MSS: pembrolizumab indicato per PD-L1 CPS, non per MSI. NGS non aggiunge in questo caso.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FF3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S.C. Anatomia Patologica  ·  ASST FBF Sacco  ·  Pannello NGS 50 Geni  · 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il NGS smentisce il vetrino — casi da non ignorare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6035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vetrino non mente, ma a volte non dice tutto. Questi scenari richiedono rivalutazione attiva.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425196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96112"/>
            <a:ext cx="20116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896112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9509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ALK negativa + NGS ALK expression imbalance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1704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H&amp;E: IHC D5F3 score 0 — negativa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73452" y="11704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NGS: ALK imbalance rilevata su RNA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0352" y="14630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Ripetere su altro blocco se RNA subottimale. Non refertare fusione. Nota: falso positivo probabile.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896112"/>
            <a:ext cx="4251960" cy="914400"/>
          </a:xfrm>
          <a:prstGeom prst="rect">
            <a:avLst/>
          </a:prstGeom>
          <a:solidFill>
            <a:srgbClr val="FEF2F2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896112"/>
            <a:ext cx="201168" cy="9144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96112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9509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MMR intatta + NGS MSI-H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11704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H&amp;E: MLH1/MSH2/MSH6/PMS2 tutti positivi (intatti)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26580" y="11704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NGS: MSI-H (126 marcatori instabili)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14630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Discordanza reale — reflex PCR MSI obbligatorio. Non refertare MSI-H senza conferma.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907792"/>
            <a:ext cx="4251960" cy="914400"/>
          </a:xfrm>
          <a:prstGeom prst="rect">
            <a:avLst/>
          </a:prstGeom>
          <a:solidFill>
            <a:srgbClr val="FEF2F2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907792"/>
            <a:ext cx="201168" cy="9144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907792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" y="29626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Morfologia da carcinoma primitivo + IDH1 mutato inatteso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318211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H&amp;E: Adenocarcinoma ghiandolare, sede polmone, TTF1+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73452" y="318211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NGS: IDH1 R132H VAF 38%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" y="3474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IDH1 in NSCLC è raro — considerare metastasi da glioma o colangiocarcinoma. Rivalutare contesto clinico.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2907792"/>
            <a:ext cx="425196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907792"/>
            <a:ext cx="20116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907792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83480" y="29626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 altissimo in gene oncosoppressore + cellularità bassa stimata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83480" y="318211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H&amp;E: Cellularità stimata ~25% su H&amp;E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26580" y="318211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NGS: TP53 R248W VAF 78%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83480" y="3474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VAF 78% con cellularità 25% suggerisce rivalutazione: cellularità sottostimata su H&amp;E o LOH. Rivedere il vetrino.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FF3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S.C. Anatomia Patologica  ·  ASST FBF Sacco  ·  Pannello NGS 50 Geni  · 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IHC / FISH — quando il NGS da solo non basta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6035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 scenari richiedono un test di conferma prima di refertare l'implicazione clinica.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8631936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14400"/>
            <a:ext cx="20116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875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expression imbalance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335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NGS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1115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39312" y="9875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ALK (D5F3 Ventana)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39312" y="13350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da eseguire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80760" y="1115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10058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≠ fusione. Sensibilità IHC &gt;95% — è sufficiente per la terapia se 3+.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" y="1709928"/>
            <a:ext cx="8631936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709928"/>
            <a:ext cx="20116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7830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ERBB2 amplificato (CNV-NGS)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130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NGS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0" y="1911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39312" y="17830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HER2 → FISH se IHC 2+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39312" y="21305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da eseguire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80760" y="1911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180136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CNV-NGS è segnale di allerta. La terapia richiede conferma IHC/FISH secondo linee guida.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2505456"/>
            <a:ext cx="8631936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2505456"/>
            <a:ext cx="20116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5786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amplificato (CNV-NGS)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2926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NGS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2706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39312" y="2578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MET (CEP7 ratio)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39312" y="2926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da eseguire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80760" y="2706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92240" y="259689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Amplificazione vera vs polisomia. Solo amplificazione reale è actionable per tepotinib/capmatinib.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56032" y="3300984"/>
            <a:ext cx="8631936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" y="3300984"/>
            <a:ext cx="201168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3741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MSI-H (NGS) + IHC MMR intatta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3721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NGS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0" y="3502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639312" y="33741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MSI (Bethesda classico)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39312" y="3721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da eseguire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3502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492240" y="339242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Discordanza NGS/IHC: l'MSI-PCR è il gold standard per la decisione terapeutica con pembrolizumab.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56032" y="4096512"/>
            <a:ext cx="8631936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4096512"/>
            <a:ext cx="201168" cy="71323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1696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ROS1 fusione (RNA-NGS)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" y="45171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NGS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00400" y="4297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3639312" y="4169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ROS1 (D4D6) o FISH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639312" y="45171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da eseguire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80760" y="4297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492240" y="418795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NSCLC la conferma è raccomandata dalle LG ESMO. IHC ha alta sensibilità se 3+.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FF3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S.C. Anatomia Patologica  ·  ASST FBF Sacco  ·  Pannello NGS 50 Geni  · 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NON facciamo — limiti rilevanti per la diagnosi istologica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8631936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58368"/>
            <a:ext cx="201168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22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Distinzione somatico vs germinale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Analizziamo solo FFPE tumorale. Se trovi CDH1, BRCA1/2, MLH1 con VAF ~50%: segnala al clinico per test su sangue. Non possiamo escludere variante germinale.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1463040"/>
            <a:ext cx="8631936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463040"/>
            <a:ext cx="201168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27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TMB — Tumor Mutational Burden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8105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geni non bastano per un calcolo affidabile. Non refertare TMB da questo pannello. Per PD-L1 CPS/TPS: test IHC separato su richiesta.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2267712"/>
            <a:ext cx="8631936" cy="71323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267712"/>
            <a:ext cx="20116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317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CNV su geni non validati (es. FGFR2, CDK4, CCND1…)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6151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EGFR, ERBB2 e MET sono validati per CNV. Gli altri geni del pannello producono un segnale CNV non refertabile come standard diagnostico.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3072384"/>
            <a:ext cx="8631936" cy="71323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3072384"/>
            <a:ext cx="20116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36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Fusioni su campioni con RNA degradato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4198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FFPE vecchio (&gt;5 anni) o campioni piccoli possono dare falsi negativi sulle fusioni. Se morfologia suggerisce ALK/ROS1 e NGS è negativo: non escludere. Fare IHC.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877056"/>
            <a:ext cx="8631936" cy="713232"/>
          </a:xfrm>
          <a:prstGeom prst="rect">
            <a:avLst/>
          </a:prstGeom>
          <a:solidFill>
            <a:srgbClr val="E8F4F5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877056"/>
            <a:ext cx="201168" cy="71323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410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 tumorale (WHO) — non è compito del pannello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2245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pannello supporta la diagnosi, non la sostituisce. IDH1 R132H in un glioma conferma la classificazione; non la produce. Il vetrino rimane il punto di partenza.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FF3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S.C. Anatomia Patologica  ·  ASST FBF Sacco  ·  Pannello NGS 50 Geni  · 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02920" cy="507949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502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sintesi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841248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molecolare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un secondo vetrino.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77240" y="2542032"/>
            <a:ext cx="201168" cy="2011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5237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cellularità la stimi tu su H&amp;E — prima di tutto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907792"/>
            <a:ext cx="201168" cy="2011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88950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 Parte B usa l’Assistente di Refertazione NGS — sede, gene, variante, VAF: frase pronta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273552"/>
            <a:ext cx="201168" cy="2011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2552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imbalance ≠ fusione — senza IHC D5F3 non si referta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639312"/>
            <a:ext cx="201168" cy="2011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62102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 discordante con IHC → reflex PCR prima di firmare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005072"/>
            <a:ext cx="201168" cy="2011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9867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CNV validati solo su EGFR, ERBB2, MET — gli altri sono segnali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370832"/>
            <a:ext cx="201168" cy="2011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3525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il molecolare non quadra con la morfologia: rivaluta il vetrino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914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S.C. Anatomia Patologica  ·  ASST FBF Sacco  ·  02 3904-2348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NGS 50 Geni — Per i colleghi patologi</dc:title>
  <dc:subject>PptxGenJS Presentation</dc:subject>
  <dc:creator>PptxGenJS</dc:creator>
  <cp:lastModifiedBy>PptxGenJS</cp:lastModifiedBy>
  <cp:revision>1</cp:revision>
  <dcterms:created xsi:type="dcterms:W3CDTF">2026-03-13T22:49:23Z</dcterms:created>
  <dcterms:modified xsi:type="dcterms:W3CDTF">2026-03-13T22:49:23Z</dcterms:modified>
</cp:coreProperties>
</file>