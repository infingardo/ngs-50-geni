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3152"/>
            <a:ext cx="457200" cy="507034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0" y="274320"/>
            <a:ext cx="822960" cy="822960"/>
          </a:xfrm>
          <a:prstGeom prst="ellipse">
            <a:avLst/>
          </a:prstGeom>
          <a:solidFill>
            <a:srgbClr val="006D77">
              <a:alpha val="20000"/>
            </a:srgbClr>
          </a:solidFill>
          <a:ln w="12700">
            <a:solidFill>
              <a:srgbClr val="006D77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955280" y="1051560"/>
            <a:ext cx="822960" cy="822960"/>
          </a:xfrm>
          <a:prstGeom prst="ellipse">
            <a:avLst/>
          </a:prstGeom>
          <a:solidFill>
            <a:srgbClr val="006D77">
              <a:alpha val="20000"/>
            </a:srgbClr>
          </a:solidFill>
          <a:ln w="12700">
            <a:solidFill>
              <a:srgbClr val="006D77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58000" y="1828800"/>
            <a:ext cx="822960" cy="822960"/>
          </a:xfrm>
          <a:prstGeom prst="ellipse">
            <a:avLst/>
          </a:prstGeom>
          <a:solidFill>
            <a:srgbClr val="006D77">
              <a:alpha val="20000"/>
            </a:srgbClr>
          </a:solidFill>
          <a:ln w="12700">
            <a:solidFill>
              <a:srgbClr val="006D77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955280" y="2606040"/>
            <a:ext cx="822960" cy="822960"/>
          </a:xfrm>
          <a:prstGeom prst="ellipse">
            <a:avLst/>
          </a:prstGeom>
          <a:solidFill>
            <a:srgbClr val="006D77">
              <a:alpha val="20000"/>
            </a:srgbClr>
          </a:solidFill>
          <a:ln w="12700">
            <a:solidFill>
              <a:srgbClr val="006D77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858000" y="3383280"/>
            <a:ext cx="822960" cy="822960"/>
          </a:xfrm>
          <a:prstGeom prst="ellipse">
            <a:avLst/>
          </a:prstGeom>
          <a:solidFill>
            <a:srgbClr val="006D77">
              <a:alpha val="20000"/>
            </a:srgbClr>
          </a:solidFill>
          <a:ln w="12700">
            <a:solidFill>
              <a:srgbClr val="006D77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955280" y="4160520"/>
            <a:ext cx="822960" cy="822960"/>
          </a:xfrm>
          <a:prstGeom prst="ellipse">
            <a:avLst/>
          </a:prstGeom>
          <a:solidFill>
            <a:srgbClr val="006D77">
              <a:alpha val="20000"/>
            </a:srgbClr>
          </a:solidFill>
          <a:ln w="12700">
            <a:solidFill>
              <a:srgbClr val="006D77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640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50 GENI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118872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devo capire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firmare il referto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32004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2461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 Operativa — S.C. Anatomia Patologica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 FBF Sacco  ·  2026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31F3E"/>
          </a:solidFill>
          <a:ln w="12700">
            <a:solidFill>
              <a:srgbClr val="131F3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3 concetti chiave · 9 casi clinici · Checklist pre-firma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WORKFLOW — chi fa cosa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7432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85800"/>
            <a:ext cx="2743200" cy="6858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CRISTINA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1078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Dirigente Biologo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 Parte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Output server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Dati tecnici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SNV, CNV, fusioni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MSI status grezzo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685800"/>
            <a:ext cx="27432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685800"/>
            <a:ext cx="27432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731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PATOLOGO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46120" y="1078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Dirigente Medico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50876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 Parte 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Valuta VAF vs cellularità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Usa l’Assistente di Refertazione NGS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Sede, gene, variante, VAF → frase pronta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Firma il referto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685800"/>
            <a:ext cx="27432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685800"/>
            <a:ext cx="2743200" cy="6858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731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 PATHOX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1078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Addendum al caso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150876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Visibile a tutti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Oncologo / clinico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Tumor board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Altri patologi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Archivio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017520" y="2651760"/>
            <a:ext cx="228600" cy="0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97706"/>
                </a:solidFill>
              </a:rPr>
              <a:t>▶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989320" y="2651760"/>
            <a:ext cx="228600" cy="0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97706"/>
                </a:solidFill>
              </a:rPr>
              <a:t>▶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274320" y="4709160"/>
            <a:ext cx="8595360" cy="33832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72744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La firma del Dirigente Medico attesta l'interpretazione clinica (Parte B), non i dati tecnici di Cristina (Parte A)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6D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457200"/>
            <a:ext cx="1280160" cy="128016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011680" y="640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CONCETTO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96012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 non è un numero assoluto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011680" y="2331720"/>
            <a:ext cx="457200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24231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VAF si legge sempre in rapporto alla cellularità tumorale stimata su H&amp;E.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VAF 'strano' rispetto alla cellularità è un segnale d'allarme — non firmarlo senza nota.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Seguono 3 casi clinici commentati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1.1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 G12D — VAF coerente con cellularità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metastatico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DAL SERVER  (Parte A — Cristina)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886968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9784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/ mut.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9784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 p.G12D (esone 2)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31673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4416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34416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68249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0992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170992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04825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7568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Cellularità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07568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 (H&amp;E)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41401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4144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Class. sw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244144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Pathogenic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277977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8072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Copertura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28072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1840×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RAGIONAMENTO DEL PATOLOGO  (Parte B)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43400" y="886968"/>
            <a:ext cx="4526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34840" y="98755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987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969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Cellularità 75% → mi aspetto KRAS eterozigote a ~37-40% VAF.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158191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1581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15636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 44% è nel range atteso. Nessuna discrepanza.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434840" y="217627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3484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0" y="21579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Implicazione: resistenza cetuximab/panitumumab. Tier I in CRC.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28600" y="4206240"/>
            <a:ext cx="8641080" cy="713232"/>
          </a:xfrm>
          <a:prstGeom prst="rect">
            <a:avLst/>
          </a:prstGeom>
          <a:solidFill>
            <a:srgbClr val="F0FDF4"/>
          </a:solidFill>
          <a:ln w="25400">
            <a:solidFill>
              <a:srgbClr val="1A6B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2245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FIRMA — dato coerente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5760" y="448056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molecolare coerente. Refertare in Tier I: esclusione anti-EGFR.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1.2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del19 — VAF incompatibile con cellularità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NSCLC adenocarcinoma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DAL SERVER  (Parte A — Cristina)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886968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9784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/ mut.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9784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del exon 19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31673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4416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34416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68249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0992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Cellularità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170992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 (H&amp;E)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04825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7568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Class. sw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07568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Pathogenic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41401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4144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Copertura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244144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620×  ⚠ bassa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RAGIONAMENTO DEL PATOLOGO  (Parte B)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43400" y="886968"/>
            <a:ext cx="4526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34840" y="98755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987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969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Cellularità 80% → EGFR del19 eterozigote dovrebbe essere ~40% VAF.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158191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1581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15636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 7% è incompatibile. Tre ipotesi: (A) artefatto FFPE da deaminazione; (B) mutazione subclonale in tumore altamente eterogeneo; (C) campione contaminato.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217627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21579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copertura 620× il dato è poco affidabile. Consultare Cristina.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8600" y="4206240"/>
            <a:ext cx="8641080" cy="713232"/>
          </a:xfrm>
          <a:prstGeom prst="rect">
            <a:avLst/>
          </a:prstGeom>
          <a:solidFill>
            <a:srgbClr val="FEF2F2"/>
          </a:solidFill>
          <a:ln w="25400">
            <a:solidFill>
              <a:srgbClr val="991B1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2245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NON FIRMARE senza approfondimento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" y="448056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refertare come finding primario. Richiedere verifica tecnica e/o nuova estrazione da blocco diverso.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1.3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mutazioni con VAF diversi — eterogeneità tumorale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gastrico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DAL SERVER  (Parte A — Cristina)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886968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9784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/ mut.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9784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 R248W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31673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4416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 (TP53)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34416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68249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0992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/ mut.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170992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PIK3CA E545K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04825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7568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 (PIK3CA)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07568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41401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4144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Cellularità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244144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 (H&amp;E)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277977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8072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Class. sw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28072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Pathogenic / Pathogenic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RAGIONAMENTO DEL PATOLOGO  (Parte B)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43400" y="886968"/>
            <a:ext cx="4526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34840" y="98755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987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969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 a 41% con cellularità 70% → coerente (presente nel clone maggioritario).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158191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1581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15636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PIK3CA a 18% con stessa cellularità → plausibile mutazione subclonale o secondaria.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434840" y="217627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3484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0" y="21579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Eterogeneità intratumorale è biologicamente attesa in adenocarcinoma gastrico avanzato.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28600" y="4206240"/>
            <a:ext cx="8641080" cy="713232"/>
          </a:xfrm>
          <a:prstGeom prst="rect">
            <a:avLst/>
          </a:prstGeom>
          <a:solidFill>
            <a:srgbClr val="FFFBEB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2245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ATTENZIONE — aggiungi nota obbligatoria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5760" y="448056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Entrambe refertabili. PIK3CA in Tier II con nota: 'variante subclonale, interpretare nel contesto clinico'.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457200"/>
            <a:ext cx="1280160" cy="128016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011680" y="640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CONCETTO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96012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software classifica, tu interpreti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011680" y="2331720"/>
            <a:ext cx="457200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24231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server NGS non conosce la sede tumorale del tuo paziente.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'Pathogenic' in ClinVar/COSMIC non equivale a 'actionable per questo tumore'.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Tier lo assegna il medico — l’Assistente di Refertazione NGS genera la frase già contestualizzata per sede e gene.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Seguono 3 casi clinici commentati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2.1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 G12V — 'Pathogenic' ma non è un target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stadio IV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DAL SERVER  (Parte A — Cristina)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886968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9784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/ mut.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9784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 p.G12V (esone 2)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31673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4416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34416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68249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0992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Class. sw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170992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04825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7568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OncoKB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07568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Oncogenic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41401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4144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 sw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244144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Sotorasib (KRAS G12C)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RAGIONAMENTO DEL PATOLOGO  (Parte B)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43400" y="886968"/>
            <a:ext cx="4526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34840" y="98755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987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969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software segnala KRAS G12V come 'Pathogenic' → corretto biologicamente.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158191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1581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15636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Sotorasib è approvato SOLO per KRAS G12C (non G12V). Il software ha sbagliato il farmaco.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217627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21579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CRC, KRAS qualsiasi mutazione = Tier I come ESCLUSIONE anti-EGFR, non come target terapeutico diretto.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8600" y="4206240"/>
            <a:ext cx="8641080" cy="713232"/>
          </a:xfrm>
          <a:prstGeom prst="rect">
            <a:avLst/>
          </a:prstGeom>
          <a:solidFill>
            <a:srgbClr val="FFFBEB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2245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ATTENZIONE — aggiungi nota obbligatoria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" y="448056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Refertare: 'KRAS p.G12V — Tier I in CRC: esclusione cetuximab e panitumumab'. Nessun farmaco diretto disponibile per G12V.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2.2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IDH1 R132H — rilevante in glioma, non in polmone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NSCLC adenocarcinoma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DAL SERVER  (Parte A — Cristina)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886968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9784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/ mut.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9784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IDH1 p.R132H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31673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4416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34416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68249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0992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Class. sw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170992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04825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7568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07568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OncoKB: Level 1 (AML, glioma)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41401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4144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 sw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244144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Ivosidenib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RAGIONAMENTO DEL PATOLOGO  (Parte B)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43400" y="886968"/>
            <a:ext cx="4526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34840" y="98755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987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969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IDH1 R132H è Level 1 in OncoKB — ma per AML e glioma di basso grado, non per NSCLC.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158191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1581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15636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NSCLC, IDH1 non ha indicazione terapeutica approvata. Tier II al massimo (basket trial).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217627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21579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software ha indicato ivosidenib ignorando la sede tumorale.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8600" y="4206240"/>
            <a:ext cx="8641080" cy="713232"/>
          </a:xfrm>
          <a:prstGeom prst="rect">
            <a:avLst/>
          </a:prstGeom>
          <a:solidFill>
            <a:srgbClr val="FFFBEB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2245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ATTENZIONE — aggiungi nota obbligatoria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" y="448056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Refertare in Tier II: 'IDH1 R132H — non actionable in NSCLC. Farmaco approvato in altre sedi (AML, glioma). Valutare trial clinici'.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2.3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 R175H — 'Pathogenic' ma nessuna implicazione diretta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Carcinoma mammario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DAL SERVER  (Parte A — Cristina)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886968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9784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/ mut.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9784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 p.R175H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31673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4416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34416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68249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0992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Class. sw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170992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04825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7568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Freq. pop.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07568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comune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41401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4144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 sw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244144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(nessuno indicato)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RAGIONAMENTO DEL PATOLOGO  (Parte B)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43400" y="886968"/>
            <a:ext cx="4526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34840" y="98755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987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969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 R175H è la mutazione gain-of-function più frequente in tutti i tumori solidi.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158191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1581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15636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esiste un farmaco approvato che target TP53 R175H in nessuna sede tumorale.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217627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21579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refertata come Tier III: biologicamente rilevante ma non actionable terapeuticamente allo stato attuale.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8600" y="4206240"/>
            <a:ext cx="8641080" cy="713232"/>
          </a:xfrm>
          <a:prstGeom prst="rect">
            <a:avLst/>
          </a:prstGeom>
          <a:solidFill>
            <a:srgbClr val="FFFBEB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2245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ATTENZIONE — aggiungi nota obbligatoria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" y="448056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Refertare in Tier III: 'TP53 p.R175H — variante nota, biologicamente significativa. Non actionable con farmaci approvati. Rivalutare al variare delle evidenze'.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457200"/>
            <a:ext cx="1280160" cy="128016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011680" y="640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CONCETTO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96012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imbalance ≠ fusione ALK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011680" y="2331720"/>
            <a:ext cx="457200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24231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pannello rileva uno squilibrio 3'/5' nell'espressione di ALK su RNA.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un segnale indiretto — non è la dimostrazione della fusione.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IHC D5F3 o FISH, non si tratta.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Seguono 3 casi clinici commentati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3.1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imbalance rilevata — IHC negativa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NSCLC adenocarcinoma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DAL SERVER  (Parte A — Cristina)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886968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9784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imbalance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9784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31673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4416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Fusione NGS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34416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rilevata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68249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0992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 ALK D5F3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170992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 (0)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04825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7568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ALK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07568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eseguito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41401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4144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quality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244144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Subottimale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RAGIONAMENTO DEL PATOLOGO  (Parte B)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43400" y="886968"/>
            <a:ext cx="4526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34840" y="98755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987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969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imbalance è un segnale indiretto — può essere falso positivo, specie con RNA degradato.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158191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1581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15636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 D5F3 è negativa (clone Ventana, sensibilità &gt;95%) → nessuna proteina ALK aberrante espressa.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217627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21579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combinazione imbalance+ / IHC negativa è più compatibile con falso positivo da RNA di scarsa qualità.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8600" y="4206240"/>
            <a:ext cx="8641080" cy="713232"/>
          </a:xfrm>
          <a:prstGeom prst="rect">
            <a:avLst/>
          </a:prstGeom>
          <a:solidFill>
            <a:srgbClr val="FEF2F2"/>
          </a:solidFill>
          <a:ln w="25400">
            <a:solidFill>
              <a:srgbClr val="991B1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2245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NON FIRMARE senza approfondimento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" y="448056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refertare come 'fusione ALK'. Nota: 'ALK expression imbalance rilevata. IHC ALK (D5F3) negativa — dato non confermato, nessuna indicazione per inibitori ALK'.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3.2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imbalance + IHC positiva — fusione confermata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NSCLC adenocarcinoma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DAL SERVER  (Parte A — Cristina)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886968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9784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imbalance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9784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31673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4416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Fusione NGS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34416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EML4::ALK (variante 1)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68249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0992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 ALK D5F3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170992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Positiva 3+ (diffusa)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04825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7568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ALK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07568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eseguito (IHC sufficiente)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41401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4144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quality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244144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Adeguata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RAGIONAMENTO DEL PATOLOGO  (Parte B)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43400" y="886968"/>
            <a:ext cx="4526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34840" y="98755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987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969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imbalance + fusione EML4::ALK rilevata su RNA → dato concordante.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158191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1581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15636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 D5F3 positiva 3+ su Ventana: confirma espressione proteica aberrante.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217627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21579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Concordanza NGS + IHC = certezza diagnostica. Tier I per inibitori ALK di 2a/3a generazione.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8600" y="4206240"/>
            <a:ext cx="8641080" cy="713232"/>
          </a:xfrm>
          <a:prstGeom prst="rect">
            <a:avLst/>
          </a:prstGeom>
          <a:solidFill>
            <a:srgbClr val="F0FDF4"/>
          </a:solidFill>
          <a:ln w="25400">
            <a:solidFill>
              <a:srgbClr val="1A6B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2245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FIRMA — dato coerente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" y="448056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Fusione ALK confermata. Tier I: alectinib, brigatinib, lorlatinib (NSCLC ALK+, prima linea o dopo progressione).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3.3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NTRK1::TPM3 — fusione actionable pan-tumorale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914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Carcinoma del colon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594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DAL SERVER  (Parte A — Cristina)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886968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9784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9784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NTRK1::TPM3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31673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4416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analisi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34416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(NGS pannello)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68249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0992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imbalance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170992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rilevata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04825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7568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07568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41401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4144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KRAS/NRAS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244144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Wild-type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2779776"/>
            <a:ext cx="3749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80720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quality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28072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Adeguata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5943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RAGIONAMENTO DEL PATOLOGO  (Parte B)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43400" y="886968"/>
            <a:ext cx="4526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34840" y="98755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987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969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Fusione NTRK1::TPM3 è un'alterazione rara (&lt;1% CRC) ma altamente actionable.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158191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1581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15636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Larotrectinib e entrectinib hanno approvazione pan-tumor FDA (2018) e EMA (2019) per fusioni NTRK indipendentemente dalla sede.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434840" y="2176272"/>
            <a:ext cx="256032" cy="25603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34840" y="2176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0" y="21579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CRC già wild-type RAS/RAF — il paziente è eleggibile anche per anti-EGFR, ma la fusione NTRK ha priorità in first-line se presente.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28600" y="4206240"/>
            <a:ext cx="8641080" cy="713232"/>
          </a:xfrm>
          <a:prstGeom prst="rect">
            <a:avLst/>
          </a:prstGeom>
          <a:solidFill>
            <a:srgbClr val="F0FDF4"/>
          </a:solidFill>
          <a:ln w="25400">
            <a:solidFill>
              <a:srgbClr val="1A6B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2245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FIRMA — dato coerente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5760" y="448056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 pan-tumor: refertare in primo piano. 'Fusione NTRK1::TPM3 rilevata — indicazione larotrectinib/entrectinib (approvazione FDA/EMA indipendente da sede)'.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PRE-FIRMA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domande da farti prima di mettere la firma · Parte B: usa l’Assistente di Refertazione NGS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6858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45720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1430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VAF è compatibile con la cellularità che ho stimato su H&amp;E?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44475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cellularità 70% e KRAS VAF 8% → o subclonale o artefatto FFPE → aggiungi nota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56232"/>
            <a:ext cx="8595360" cy="6858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856232"/>
            <a:ext cx="45720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56232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1901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software dice 'Pathogenic' — ma è actionable per QUESTO tumore?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20370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 G12V è pathogenic ovunque, ma in CRC significa resistenza, non target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615184"/>
            <a:ext cx="8595360" cy="6858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615184"/>
            <a:ext cx="45720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15184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266090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C'è ALK imbalance? Ho l'IHC o il FISH a conferma?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296265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≠ fusione. Senza IHC D5F3 o FISH, non scrivere 'fusione ALK'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374136"/>
            <a:ext cx="8595360" cy="6858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374136"/>
            <a:ext cx="45720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374136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" y="341985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MSI-H è concordante con l'IHC delle proteine MMR?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72160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Discordanza → reflex PCR MSI obbligatorio prima di segnalare pembrolizumab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133088"/>
            <a:ext cx="8595360" cy="6858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133088"/>
            <a:ext cx="45720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133088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2960" y="41788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VUS le ho messe nella sezione corretta con il disclaimer?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448056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VUS in sezione principale senza disclaimer è un errore medico-legale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NGS 50 Geni — Briefing refertazione</dc:title>
  <dc:subject>PptxGenJS Presentation</dc:subject>
  <dc:creator>PptxGenJS</dc:creator>
  <cp:lastModifiedBy>PptxGenJS</cp:lastModifiedBy>
  <cp:revision>1</cp:revision>
  <dcterms:created xsi:type="dcterms:W3CDTF">2026-03-13T20:11:17Z</dcterms:created>
  <dcterms:modified xsi:type="dcterms:W3CDTF">2026-03-13T20:11:17Z</dcterms:modified>
</cp:coreProperties>
</file>