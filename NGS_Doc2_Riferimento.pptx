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20"/>
    <p:sldId id="270" r:id="rId21"/>
    <p:sldId id="271" r:id="rId22"/>
    <p:sldId id="272" r:id="rId23"/>
    <p:sldId id="273" r:id="rId24"/>
    <p:sldId id="274" r:id="rId25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457200"/>
            <a:ext cx="1645920" cy="457200"/>
          </a:xfrm>
          <a:prstGeom prst="rect">
            <a:avLst/>
          </a:prstGeom>
          <a:solidFill>
            <a:srgbClr val="2E6DA4">
              <a:alpha val="60000"/>
            </a:srgbClr>
          </a:solidFill>
          <a:ln w="12700">
            <a:solidFill>
              <a:srgbClr val="2E6DA4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1097280"/>
            <a:ext cx="1645920" cy="457200"/>
          </a:xfrm>
          <a:prstGeom prst="rect">
            <a:avLst/>
          </a:prstGeom>
          <a:solidFill>
            <a:srgbClr val="2E6DA4">
              <a:alpha val="52000"/>
            </a:srgbClr>
          </a:solidFill>
          <a:ln w="12700">
            <a:solidFill>
              <a:srgbClr val="2E6DA4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1737360"/>
            <a:ext cx="1645920" cy="457200"/>
          </a:xfrm>
          <a:prstGeom prst="rect">
            <a:avLst/>
          </a:prstGeom>
          <a:solidFill>
            <a:srgbClr val="2E6DA4">
              <a:alpha val="44000"/>
            </a:srgbClr>
          </a:solidFill>
          <a:ln w="12700">
            <a:solidFill>
              <a:srgbClr val="2E6DA4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2377440"/>
            <a:ext cx="1645920" cy="457200"/>
          </a:xfrm>
          <a:prstGeom prst="rect">
            <a:avLst/>
          </a:prstGeom>
          <a:solidFill>
            <a:srgbClr val="2E6DA4">
              <a:alpha val="36000"/>
            </a:srgbClr>
          </a:solidFill>
          <a:ln w="12700">
            <a:solidFill>
              <a:srgbClr val="2E6DA4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3017520"/>
            <a:ext cx="1645920" cy="457200"/>
          </a:xfrm>
          <a:prstGeom prst="rect">
            <a:avLst/>
          </a:prstGeom>
          <a:solidFill>
            <a:srgbClr val="2E6DA4">
              <a:alpha val="28000"/>
            </a:srgbClr>
          </a:solidFill>
          <a:ln w="12700">
            <a:solidFill>
              <a:srgbClr val="2E6DA4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3657600"/>
            <a:ext cx="1645920" cy="457200"/>
          </a:xfrm>
          <a:prstGeom prst="rect">
            <a:avLst/>
          </a:prstGeom>
          <a:solidFill>
            <a:srgbClr val="2E6DA4">
              <a:alpha val="20000"/>
            </a:srgbClr>
          </a:solidFill>
          <a:ln w="12700">
            <a:solidFill>
              <a:srgbClr val="2E6DA4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18872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FFFFFF"/>
                </a:solidFill>
              </a:rPr>
              <a:t>PANNELLO NGS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274320" y="192024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028090"/>
                </a:solidFill>
              </a:rPr>
              <a:t>50 GENI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274320" y="278892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6E4F0"/>
                </a:solidFill>
              </a:rPr>
              <a:t>Guida alla Refertazione per l'Anatomopatologo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74320" y="3310128"/>
            <a:ext cx="4114800" cy="1829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40156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E0"/>
                </a:solidFill>
              </a:rPr>
              <a:t>S.C. Anatomia Patologica  ·  ASST FBF Sacco  ·  2026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" y="38404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9EC0"/>
                </a:solidFill>
              </a:rPr>
              <a:t>Classificazione varianti: AMP/ASCO/CAP (Li et al., JMD 2017)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7A9EC0"/>
                </a:solidFill>
              </a:rPr>
              <a:t>Database: OncoKB · ClinVar · COSMIC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6E4F0"/>
                </a:solidFill>
              </a:rPr>
              <a:t>S.C. Anatomia Patologica · ASST FBF Sacco · Uso interno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37160" y="4572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Cos'è un Pannello NGS Targeted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" y="4572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Principi fondamentali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640080"/>
            <a:ext cx="8595360" cy="777240"/>
          </a:xfrm>
          <a:prstGeom prst="rect">
            <a:avLst/>
          </a:prstGeom>
          <a:solidFill>
            <a:srgbClr val="D6E4F0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58368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</a:rPr>
              <a:t xml:space="preserve">NGS (Next Generation Sequencing):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</a:rPr>
              <a:t xml:space="preserve">sequenziamento massivo parallelo che legge milioni di frammenti di DNA/RNA contemporaneamente, analizzando regioni selezionate di </a:t>
            </a:r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</a:rPr>
              <a:t>50 geni oncologici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</a:rPr>
              <a:t xml:space="preserve"> in un'unica corsa strumentale.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572768"/>
            <a:ext cx="274320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58191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🧬  Tecnologia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1993392"/>
            <a:ext cx="24688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4A4A"/>
                </a:solidFill>
              </a:rPr>
              <a:t>Amplicon-based targeted panel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4A4A"/>
                </a:solidFill>
              </a:rPr>
              <a:t>Input: DNA + RNA da FFPE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4A4A"/>
                </a:solidFill>
              </a:rPr>
              <a:t>Output: report bioinformatico strutturato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1572768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572768"/>
            <a:ext cx="274320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58191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🔬  Differenza dalla PCR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37560" y="1993392"/>
            <a:ext cx="24688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4A4A"/>
                </a:solidFill>
              </a:rPr>
              <a:t>PCR → un gene alla volta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4A4A"/>
                </a:solidFill>
              </a:rPr>
              <a:t>Sanger → una regione alla volta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4A4A"/>
                </a:solidFill>
              </a:rPr>
              <a:t>NGS → 50 geni in parallelo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1572768"/>
            <a:ext cx="2743200" cy="237744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572768"/>
            <a:ext cx="274320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58191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⚠️  Prerequisito critico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63640" y="1993392"/>
            <a:ext cx="24688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0392B"/>
                </a:solidFill>
              </a:rPr>
              <a:t>Cellularità tumorale ≥20%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0392B"/>
                </a:solidFill>
              </a:rPr>
              <a:t>Stimata dal patologo su H&amp;E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0392B"/>
                </a:solidFill>
              </a:rPr>
              <a:t>Prima dell'invio in BioMol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1148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2E6DA4"/>
                </a:solidFill>
              </a:rPr>
              <a:t>Il referto NGS è un documento clinico-diagnostico: non un dump bioinformatico. Il patologo interpreta e contestualizza.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6E4F0"/>
                </a:solidFill>
              </a:rPr>
              <a:t>S.C. Anatomia Patologica · ASST FBF Sacco · Uso interno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37160" y="4572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Le 4 Categorie Analitiche del Pannello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" y="594360"/>
            <a:ext cx="20574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594360"/>
            <a:ext cx="2057400" cy="10972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" y="6217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10058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SNV &amp; InsDel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444752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4538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6B"/>
                </a:solidFill>
              </a:rPr>
              <a:t>50 geni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20040" y="173736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A4A4A"/>
                </a:solidFill>
              </a:rPr>
              <a:t>Mutazioni puntiformi e piccole inserzioni/delezioni nei geni targetizzati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01752" y="2926080"/>
            <a:ext cx="1920240" cy="182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0175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i="1" dirty="0">
                <a:solidFill>
                  <a:srgbClr val="1B3A6B"/>
                </a:solidFill>
              </a:rPr>
              <a:t>VAF come indicatore di cellularità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423160" y="594360"/>
            <a:ext cx="20574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23160" y="594360"/>
            <a:ext cx="2057400" cy="109728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96312" y="6217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514600" y="10058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CNV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14600" y="1444752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14600" y="14538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6DA4"/>
                </a:solidFill>
              </a:rPr>
              <a:t>3 validati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514600" y="173736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A4A4A"/>
                </a:solidFill>
              </a:rPr>
              <a:t>Copy Number Variations: amplificazioni e delezioni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496312" y="2926080"/>
            <a:ext cx="1920240" cy="18288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14600" y="30175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i="1" dirty="0">
                <a:solidFill>
                  <a:srgbClr val="2E6DA4"/>
                </a:solidFill>
              </a:rPr>
              <a:t>Solo EGFR · ERBB2 · MET validati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17720" y="594360"/>
            <a:ext cx="20574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594360"/>
            <a:ext cx="205740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90872" y="6217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03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709160" y="10058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Fusioni geniche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09160" y="1444752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14538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090"/>
                </a:solidFill>
              </a:rPr>
              <a:t>12 geni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709160" y="173736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A4A4A"/>
                </a:solidFill>
              </a:rPr>
              <a:t>Riarrangiamenti cromosomici con trascritti ibridi oncogenici (da RNA)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90872" y="2926080"/>
            <a:ext cx="192024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30175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i="1" dirty="0">
                <a:solidFill>
                  <a:srgbClr val="028090"/>
                </a:solidFill>
              </a:rPr>
              <a:t>ALK · RET · NTRK · ROS1 · FGFR · altri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812280" y="594360"/>
            <a:ext cx="20574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812280" y="594360"/>
            <a:ext cx="2057400" cy="1097280"/>
          </a:xfrm>
          <a:prstGeom prst="rect">
            <a:avLst/>
          </a:prstGeom>
          <a:solidFill>
            <a:srgbClr val="1B7A40"/>
          </a:solidFill>
          <a:ln w="12700">
            <a:solidFill>
              <a:srgbClr val="1B7A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85432" y="6217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04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6903720" y="10058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MSI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903720" y="1444752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03720" y="14538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7A40"/>
                </a:solidFill>
              </a:rPr>
              <a:t>126 marcatori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903720" y="173736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A4A4A"/>
                </a:solidFill>
              </a:rPr>
              <a:t>Instabilità dei microsatelliti — deficit sistema MMR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885432" y="2926080"/>
            <a:ext cx="1920240" cy="18288"/>
          </a:xfrm>
          <a:prstGeom prst="rect">
            <a:avLst/>
          </a:prstGeom>
          <a:solidFill>
            <a:srgbClr val="1B7A40"/>
          </a:solidFill>
          <a:ln w="12700">
            <a:solidFill>
              <a:srgbClr val="1B7A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03720" y="30175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i="1" dirty="0">
                <a:solidFill>
                  <a:srgbClr val="1B7A40"/>
                </a:solidFill>
              </a:rPr>
              <a:t>8 Bethesda + 118 mononucleotidici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6E4F0"/>
                </a:solidFill>
              </a:rPr>
              <a:t>S.C. Anatomia Patologica · ASST FBF Sacco · Uso interno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37160" y="4572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SNV e InsDel — Varianti puntiformi e piccole inserzioni/delezioni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" y="4572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Categoria 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594360"/>
            <a:ext cx="40233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6583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</a:rPr>
              <a:t>Definizioni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969264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80" b="1" dirty="0">
                <a:solidFill>
                  <a:srgbClr val="1B3A6B"/>
                </a:solidFill>
              </a:rPr>
              <a:t>SNV</a:t>
            </a:r>
            <a:pPr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4A4A4A"/>
                </a:solidFill>
              </a:rPr>
              <a:t xml:space="preserve"> (Single Nucleotide Variant): sostituzione di una singola base nucleotidica.
</a:t>
            </a:r>
            <a:pPr indent="0" marL="0">
              <a:lnSpc>
                <a:spcPct val="130000"/>
              </a:lnSpc>
              <a:buNone/>
            </a:pPr>
            <a:r>
              <a:rPr lang="en-US" sz="880" b="1" dirty="0">
                <a:solidFill>
                  <a:srgbClr val="4A4A4A"/>
                </a:solidFill>
              </a:rPr>
              <a:t xml:space="preserve">Esempi: </a:t>
            </a:r>
            <a:pPr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4A4A4A"/>
                </a:solidFill>
              </a:rPr>
              <a:t>KRAS p.G12D (esone 2), BRAF p.V600E (esone 15)
</a:t>
            </a:r>
            <a:pPr indent="0" marL="0">
              <a:lnSpc>
                <a:spcPct val="130000"/>
              </a:lnSpc>
              <a:buNone/>
            </a:pPr>
            <a:r>
              <a:rPr lang="en-US" sz="880" b="1" dirty="0">
                <a:solidFill>
                  <a:srgbClr val="1B3A6B"/>
                </a:solidFill>
              </a:rPr>
              <a:t>InsDel</a:t>
            </a:r>
            <a:pPr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4A4A4A"/>
                </a:solidFill>
              </a:rPr>
              <a:t>: inserzione o delezione di pochi nucleotidi.
</a:t>
            </a:r>
            <a:pPr indent="0" marL="0">
              <a:lnSpc>
                <a:spcPct val="130000"/>
              </a:lnSpc>
              <a:buNone/>
            </a:pPr>
            <a:r>
              <a:rPr lang="en-US" sz="880" b="1" dirty="0">
                <a:solidFill>
                  <a:srgbClr val="4A4A4A"/>
                </a:solidFill>
              </a:rPr>
              <a:t xml:space="preserve">Esempi: </a:t>
            </a:r>
            <a:pPr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4A4A4A"/>
                </a:solidFill>
              </a:rPr>
              <a:t>Del esone 19 EGFR (sensibilizzante per TKI), Ins esone 20 ERBB2
</a:t>
            </a:r>
            <a:pPr indent="0" marL="0">
              <a:lnSpc>
                <a:spcPct val="130000"/>
              </a:lnSpc>
              <a:buNone/>
            </a:pPr>
            <a:r>
              <a:rPr lang="en-US" sz="880" b="1" dirty="0">
                <a:solidFill>
                  <a:srgbClr val="E07B39"/>
                </a:solidFill>
              </a:rPr>
              <a:t>⚠  Attenzione:</a:t>
            </a:r>
            <a:pPr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4A4A4A"/>
                </a:solidFill>
              </a:rPr>
              <a:t xml:space="preserve"> ogni gene è coperto solo su esoni specifici — non l'intero gene.</a:t>
            </a:r>
            <a:endParaRPr lang="en-US" sz="88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4A4A4A"/>
                </a:solidFill>
              </a:rPr>
              <a:t>Un risultato negativo non esclude mutazioni in regioni non targetizzate.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434840" y="594360"/>
            <a:ext cx="44805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26280" y="6583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</a:rPr>
              <a:t>VAF — Variant Allele Frequency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26280" y="93268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4A4A"/>
                </a:solidFill>
              </a:rPr>
              <a:t>Percentuale di reads portanti la variante sul totale — proxy di cellularità tumorale e clonalità</a:t>
            </a:r>
            <a:endParaRPr lang="en-US" sz="7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261872"/>
          <a:ext cx="4343400" cy="2286000"/>
        </p:xfrm>
        <a:graphic>
          <a:graphicData uri="http://schemas.openxmlformats.org/drawingml/2006/table">
            <a:tbl>
              <a:tblPr/>
              <a:tblGrid>
                <a:gridCol w="914400"/>
                <a:gridCol w="2194560"/>
                <a:gridCol w="12344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VAF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Interpretazione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Azione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40–50%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Mutazione eterozigote in campione ad alta cellularità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B7A40"/>
                          </a:solidFill>
                        </a:rPr>
                        <a:t>Refertare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20–40%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Cellularità ridotta o perdita eterozigosi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6DA4"/>
                          </a:solidFill>
                        </a:rPr>
                        <a:t>Refertare con nota VAF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5–20%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Bassa cellularità / clone minoritario / artefatto FFPE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07B39"/>
                          </a:solidFill>
                        </a:rPr>
                        <a:t>Cautela — valutare morfologia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&lt; 5%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Limite analitico — possibile falso positivo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</a:rPr>
                        <a:t>Non refertare senza verifica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480560" y="3703320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E07B39"/>
                </a:solidFill>
              </a:rPr>
              <a:t>⚠  Fissazione prolungata in formalina → artefatti C&gt;T → possibili falsi positivi.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E07B39"/>
                </a:solidFill>
              </a:rPr>
              <a:t>I pipeline FFPE-aware filtrano questi artefatti, ma campioni degradati rimangono a rischio.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6E4F0"/>
                </a:solidFill>
              </a:rPr>
              <a:t>S.C. Anatomia Patologica · ASST FBF Sacco · Uso interno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37160" y="4572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CNV — Copy Number Variations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" y="4572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Categoria 02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594360"/>
            <a:ext cx="86868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5943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Validati clinicamente SOLO 3 geni:  EGFR  ·  ERBB2  ·  MET  — Gli altri geni del pannello non vanno refertati per CNV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" y="1170432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4A4A4A"/>
                </a:solidFill>
              </a:rPr>
              <a:t>Le CNV comprendono amplificazioni geniche e delezioni omozigoti. Il dato CNV-NGS da FFPE va sempre considerato un segnale di allerta, non un gold standard terapeutico.</a:t>
            </a:r>
            <a:endParaRPr lang="en-US" sz="88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572768"/>
          <a:ext cx="8686800" cy="1828800"/>
        </p:xfrm>
        <a:graphic>
          <a:graphicData uri="http://schemas.openxmlformats.org/drawingml/2006/table">
            <a:tbl>
              <a:tblPr/>
              <a:tblGrid>
                <a:gridCol w="1828800"/>
                <a:gridCol w="2468880"/>
                <a:gridCol w="265176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</a:rPr>
                        <a:t>Metodo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</a:rPr>
                        <a:t>Vantaggi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</a:rPr>
                        <a:t>Limiti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</a:rPr>
                        <a:t>Uso raccomandato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2E6DA4"/>
                          </a:solidFill>
                        </a:rPr>
                        <a:t>CNV da NGS (questo pannello)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</a:rPr>
                        <a:t>Integrato nel workflow — no test aggiuntivo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E07B39"/>
                          </a:solidFill>
                        </a:rPr>
                        <a:t>Validato solo EGFR/ERBB2/MET · meno accurato su FFPE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</a:rPr>
                        <a:t>Screening + trigger per reflex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028090"/>
                          </a:solidFill>
                        </a:rPr>
                        <a:t>FISH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</a:rPr>
                        <a:t>Gold standard · validazione regolatoria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</a:rPr>
                        <a:t>Sonda specifica · costo e tempo aggiuntivi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</a:rPr>
                        <a:t>Conferma per decisione terapeutica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1B7A40"/>
                          </a:solidFill>
                        </a:rPr>
                        <a:t>IHC (es. HER2)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</a:rPr>
                        <a:t>Rapida · economica · valuta espressione proteica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</a:rPr>
                        <a:t>Semiquantitativa · non rileva amplif. senza sovraespressione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</a:rPr>
                        <a:t>Primo livello in gastrico/polmone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228600" y="3520440"/>
            <a:ext cx="8686800" cy="594360"/>
          </a:xfrm>
          <a:prstGeom prst="rect">
            <a:avLst/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3538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</a:rPr>
              <a:t>Regola operativa: se NGS rileva amplificazione ERBB2 e non è disponibile il dato IHC/FISH → attivare reflex test prima della refertazione definitiva.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22960" y="4206240"/>
            <a:ext cx="457200" cy="45720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53312" y="4206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6B"/>
                </a:solidFill>
              </a:rPr>
              <a:t>EGFR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353312" y="44348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4A4A"/>
                </a:solidFill>
              </a:rPr>
              <a:t>Polmone · TKI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3474720" y="4206240"/>
            <a:ext cx="457200" cy="45720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05072" y="4206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6B"/>
                </a:solidFill>
              </a:rPr>
              <a:t>ERBB2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005072" y="44348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4A4A"/>
                </a:solidFill>
              </a:rPr>
              <a:t>Gastrico/Polmone · T-DXd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126480" y="4206240"/>
            <a:ext cx="457200" cy="45720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56832" y="4206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6B"/>
                </a:solidFill>
              </a:rPr>
              <a:t>MET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656832" y="44348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4A4A"/>
                </a:solidFill>
              </a:rPr>
              <a:t>Polmone · Tepotinib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6E4F0"/>
                </a:solidFill>
              </a:rPr>
              <a:t>S.C. Anatomia Patologica · ASST FBF Sacco · Uso interno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37160" y="4572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Fusioni Geniche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" y="4572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Categoria 03 — rilevamento da RNA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594360"/>
            <a:ext cx="41148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6583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Cosa sono &amp; Come vengono rilevate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96012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A4A4A"/>
                </a:solidFill>
              </a:rPr>
              <a:t>Riarrangiamenti cromosomici → trascritti ibridi con attività oncogenica costitutiva.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A4A4A"/>
                </a:solidFill>
              </a:rPr>
              <a:t>Rilevamento: il pannello analizza l'RNA identificando reads che attraversano breakpoint non canonici.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A4A4A"/>
                </a:solidFill>
              </a:rPr>
              <a:t>⚠  Richiedono RNA di qualità sufficiente — i blocchi FFPE &gt;5 anni o con fissazione subottimale possono dare falsi negativi.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" y="239572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</a:rPr>
              <a:t>Geni coperti: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651760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6517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ALK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645920" y="2651760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26517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FGFR1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971800" y="2651760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71800" y="26517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FGFR2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0040" y="2971800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9718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FGFR3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645920" y="2971800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0" y="29718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MET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971800" y="2971800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71800" y="29718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NRG1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0040" y="3291840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2918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NTRK1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645920" y="3291840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0" y="32918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NTRK2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971800" y="3291840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71800" y="32918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NTRK3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0040" y="3611880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6118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PPARG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645920" y="3611880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45920" y="36118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RET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971800" y="3611880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71800" y="36118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ROS1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26280" y="594360"/>
            <a:ext cx="4389120" cy="192024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26280" y="594360"/>
            <a:ext cx="4389120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603504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⚠  ALK Expression Imbalance — Nota Critica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617720" y="950976"/>
            <a:ext cx="42062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80" dirty="0">
                <a:solidFill>
                  <a:srgbClr val="C0392B"/>
                </a:solidFill>
              </a:rPr>
              <a:t>L'ALK expression imbalance NON equivale a fusione ALK confermata.</a:t>
            </a:r>
            <a:endParaRPr lang="en-US" sz="880" dirty="0"/>
          </a:p>
          <a:p>
            <a:pPr indent="0" marL="0">
              <a:lnSpc>
                <a:spcPct val="135000"/>
              </a:lnSpc>
              <a:buNone/>
            </a:pPr>
            <a:endParaRPr lang="en-US" sz="8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80" dirty="0">
                <a:solidFill>
                  <a:srgbClr val="C0392B"/>
                </a:solidFill>
              </a:rPr>
              <a:t>È uno squilibrio di reads tra esoni 5' e 3': possibile fusione con breakpoint inusuale non coperto dai primer standard.</a:t>
            </a:r>
            <a:endParaRPr lang="en-US" sz="880" dirty="0"/>
          </a:p>
          <a:p>
            <a:pPr indent="0" marL="0">
              <a:lnSpc>
                <a:spcPct val="135000"/>
              </a:lnSpc>
              <a:buNone/>
            </a:pPr>
            <a:endParaRPr lang="en-US" sz="8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80" dirty="0">
                <a:solidFill>
                  <a:srgbClr val="C0392B"/>
                </a:solidFill>
              </a:rPr>
              <a:t>→ NON refertare come 'fusione positiva'</a:t>
            </a:r>
            <a:endParaRPr lang="en-US" sz="8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80" dirty="0">
                <a:solidFill>
                  <a:srgbClr val="C0392B"/>
                </a:solidFill>
              </a:rPr>
              <a:t>→ Attivare reflex IHC ALK (D5F3) o FISH se non disponibili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4526280" y="2633472"/>
            <a:ext cx="438912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617720" y="267919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</a:rPr>
              <a:t>Fusioni vs IHC vs FISH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2971800"/>
          <a:ext cx="4389120" cy="137160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Fusione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Metodo preferito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ALK in polmone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IHC D5F3 (&gt;99% spec) → NGS conferma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NTRK1/2/3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IHC pan-TRK screening → NGS conferma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RET, ROS1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NGS spesso unico metodo pratico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NRG1, FGFR rari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NGS — no IHC validata disponibile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7A40"/>
          </a:solidFill>
          <a:ln w="12700">
            <a:solidFill>
              <a:srgbClr val="1B7A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6E4F0"/>
                </a:solidFill>
              </a:rPr>
              <a:t>S.C. Anatomia Patologica · ASST FBF Sacco · Uso interno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37160" y="4572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MSI — Instabilità dei Microsatelliti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" y="4572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Categoria 04 · Biomarcatore pan-tumorale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594360"/>
            <a:ext cx="868680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1B7A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603504"/>
            <a:ext cx="8503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7A40"/>
                </a:solidFill>
              </a:rPr>
              <a:t>MSI-H → pembrolizumab (approvazione FDA tumor-agnostic 2017 · EMA 2022) — va sempre refertato, indipendentemente dalla sede tumorale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207008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12618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7A40"/>
                </a:solidFill>
              </a:rPr>
              <a:t>Cos'è MSI-H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155448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A4A4A"/>
                </a:solidFill>
              </a:rPr>
              <a:t>Nei tumori con deficit MMR (Mismatch Repair), i microsatelliti — brevi sequenze ripetute in tandem — accumulano inserzioni/delezioni durante la replicazione → alleli di lunghezza alterata = MSI-H.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A4A4A"/>
                </a:solidFill>
              </a:rPr>
              <a:t>È anche surrogato di dMMR → implicazioni per Sindrome di Lynch.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26280" y="1207008"/>
            <a:ext cx="43891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26187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7A40"/>
                </a:solidFill>
              </a:rPr>
              <a:t>Marcatori nel pannello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17720" y="1572768"/>
            <a:ext cx="2011680" cy="246888"/>
          </a:xfrm>
          <a:prstGeom prst="roundRect">
            <a:avLst>
              <a:gd name="adj" fmla="val 14815"/>
            </a:avLst>
          </a:prstGeom>
          <a:solidFill>
            <a:srgbClr val="E8F5E9"/>
          </a:solidFill>
          <a:ln w="12700">
            <a:solidFill>
              <a:srgbClr val="1B7A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57276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B7A40"/>
                </a:solidFill>
              </a:rPr>
              <a:t>BAT25 (KIT)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766560" y="1572768"/>
            <a:ext cx="2011680" cy="246888"/>
          </a:xfrm>
          <a:prstGeom prst="roundRect">
            <a:avLst>
              <a:gd name="adj" fmla="val 14815"/>
            </a:avLst>
          </a:prstGeom>
          <a:solidFill>
            <a:srgbClr val="E8F5E9"/>
          </a:solidFill>
          <a:ln w="12700">
            <a:solidFill>
              <a:srgbClr val="1B7A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157276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B7A40"/>
                </a:solidFill>
              </a:rPr>
              <a:t>BAT26 (MSH2)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4617720" y="1874520"/>
            <a:ext cx="2011680" cy="246888"/>
          </a:xfrm>
          <a:prstGeom prst="roundRect">
            <a:avLst>
              <a:gd name="adj" fmla="val 14815"/>
            </a:avLst>
          </a:prstGeom>
          <a:solidFill>
            <a:srgbClr val="E8F5E9"/>
          </a:solidFill>
          <a:ln w="12700">
            <a:solidFill>
              <a:srgbClr val="1B7A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87452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B7A40"/>
                </a:solidFill>
              </a:rPr>
              <a:t>CAT25 (CASP2)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6766560" y="1874520"/>
            <a:ext cx="2011680" cy="246888"/>
          </a:xfrm>
          <a:prstGeom prst="roundRect">
            <a:avLst>
              <a:gd name="adj" fmla="val 14815"/>
            </a:avLst>
          </a:prstGeom>
          <a:solidFill>
            <a:srgbClr val="E8F5E9"/>
          </a:solidFill>
          <a:ln w="12700">
            <a:solidFill>
              <a:srgbClr val="1B7A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87452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B7A40"/>
                </a:solidFill>
              </a:rPr>
              <a:t>MONO27 (MAP4K3)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4617720" y="2176272"/>
            <a:ext cx="2011680" cy="246888"/>
          </a:xfrm>
          <a:prstGeom prst="roundRect">
            <a:avLst>
              <a:gd name="adj" fmla="val 14815"/>
            </a:avLst>
          </a:prstGeom>
          <a:solidFill>
            <a:srgbClr val="E8F5E9"/>
          </a:solidFill>
          <a:ln w="12700">
            <a:solidFill>
              <a:srgbClr val="1B7A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217627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B7A40"/>
                </a:solidFill>
              </a:rPr>
              <a:t>NR21 (SLC7A8)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6766560" y="2176272"/>
            <a:ext cx="2011680" cy="246888"/>
          </a:xfrm>
          <a:prstGeom prst="roundRect">
            <a:avLst>
              <a:gd name="adj" fmla="val 14815"/>
            </a:avLst>
          </a:prstGeom>
          <a:solidFill>
            <a:srgbClr val="E8F5E9"/>
          </a:solidFill>
          <a:ln w="12700">
            <a:solidFill>
              <a:srgbClr val="1B7A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217627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B7A40"/>
                </a:solidFill>
              </a:rPr>
              <a:t>NR22 (STT3A)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4617720" y="2478024"/>
            <a:ext cx="2011680" cy="246888"/>
          </a:xfrm>
          <a:prstGeom prst="roundRect">
            <a:avLst>
              <a:gd name="adj" fmla="val 14815"/>
            </a:avLst>
          </a:prstGeom>
          <a:solidFill>
            <a:srgbClr val="E8F5E9"/>
          </a:solidFill>
          <a:ln w="12700">
            <a:solidFill>
              <a:srgbClr val="1B7A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2478024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B7A40"/>
                </a:solidFill>
              </a:rPr>
              <a:t>NR24 (ZNF3)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6766560" y="2478024"/>
            <a:ext cx="2011680" cy="246888"/>
          </a:xfrm>
          <a:prstGeom prst="roundRect">
            <a:avLst>
              <a:gd name="adj" fmla="val 14815"/>
            </a:avLst>
          </a:prstGeom>
          <a:solidFill>
            <a:srgbClr val="E8F5E9"/>
          </a:solidFill>
          <a:ln w="12700">
            <a:solidFill>
              <a:srgbClr val="1B7A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2478024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B7A40"/>
                </a:solidFill>
              </a:rPr>
              <a:t>NR27 (BIRC3)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4617720" y="2798064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i="1" dirty="0">
                <a:solidFill>
                  <a:srgbClr val="4A4A4A"/>
                </a:solidFill>
              </a:rPr>
              <a:t>+ 118 marcatori mononucleotidici aggiuntivi = 126 totali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28600" y="2944368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</a:rPr>
              <a:t>Confronto tra metodi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200400"/>
          <a:ext cx="8686800" cy="1298448"/>
        </p:xfrm>
        <a:graphic>
          <a:graphicData uri="http://schemas.openxmlformats.org/drawingml/2006/table">
            <a:tbl>
              <a:tblPr/>
              <a:tblGrid>
                <a:gridCol w="2103120"/>
                <a:gridCol w="3383280"/>
                <a:gridCol w="3200400"/>
              </a:tblGrid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Metodo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Vantaggi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Limiti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IHC MMR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(MLH1/MSH2/MSH6/PMS2)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Rapida · economica · identifica proteina persa (Lynch)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Non rileva mutazioni missense con espressione conservata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PCR MSI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(pannello Bethesda)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Gold standard tradizionale · alta specificità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Richiede DNA germinale di riferimento · analisi separata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B7A40"/>
                          </a:solidFill>
                        </a:rPr>
                        <a:t>NGS MSI</a:t>
                      </a:r>
                      <a:endParaRPr lang="en-US" sz="800" dirty="0"/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B7A40"/>
                          </a:solidFill>
                        </a:rPr>
                        <a:t>(questo pannello)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Integrato · no DNA normale · 126 marcatori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E07B39"/>
                          </a:solidFill>
                        </a:rPr>
                        <a:t>FFPE degradato → falsi positivi · validare internamente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6E4F0"/>
                </a:solidFill>
              </a:rPr>
              <a:t>S.C. Anatomia Patologica · ASST FBF Sacco · Uso interno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37160" y="4572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Classificazione delle Varianti — Sistema Tier AMP/ASCO/CAP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" y="4572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Li et al., J Mol Diagn 2017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594360"/>
            <a:ext cx="20574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594360"/>
            <a:ext cx="2057400" cy="822960"/>
          </a:xfrm>
          <a:prstGeom prst="rect">
            <a:avLst/>
          </a:prstGeom>
          <a:solidFill>
            <a:srgbClr val="1B7A40"/>
          </a:solidFill>
          <a:ln w="12700">
            <a:solidFill>
              <a:srgbClr val="1B7A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" y="621792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TIER</a:t>
            </a:r>
            <a:endParaRPr lang="en-US" sz="1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658368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Forte evidenza clinica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38328" y="150876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30" dirty="0">
                <a:solidFill>
                  <a:srgbClr val="4A4A4A"/>
                </a:solidFill>
              </a:rPr>
              <a:t>Farmaco approvato FDA/EMA per quella indicazione specifica. Predittivo validato in trial prospettici.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301752" y="3063240"/>
            <a:ext cx="1920240" cy="1188720"/>
          </a:xfrm>
          <a:prstGeom prst="rect">
            <a:avLst/>
          </a:prstGeom>
          <a:solidFill>
            <a:srgbClr val="1B7A40">
              <a:alpha val="12000"/>
            </a:srgbClr>
          </a:solidFill>
          <a:ln w="12700">
            <a:solidFill>
              <a:srgbClr val="1B7A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30906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B7A40"/>
                </a:solidFill>
              </a:rPr>
              <a:t>→ nel referto: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38328" y="32918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B7A40"/>
                </a:solidFill>
              </a:rPr>
              <a:t>Sezione principale — in evidenza con implicazione terapeutica esplicita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441448" y="594360"/>
            <a:ext cx="20574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41448" y="594360"/>
            <a:ext cx="2057400" cy="82296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621792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TIER</a:t>
            </a:r>
            <a:endParaRPr lang="en-US" sz="1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II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264408" y="658368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Evidenza potenziale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551176" y="150876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30" dirty="0">
                <a:solidFill>
                  <a:srgbClr val="4A4A4A"/>
                </a:solidFill>
              </a:rPr>
              <a:t>Target in sperimentazione clinica. Approvazione in altra sede tumorale. Basket trial. Evidenza biologica solida.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2514600" y="3063240"/>
            <a:ext cx="1920240" cy="1188720"/>
          </a:xfrm>
          <a:prstGeom prst="rect">
            <a:avLst/>
          </a:prstGeom>
          <a:solidFill>
            <a:srgbClr val="2E6DA4">
              <a:alpha val="12000"/>
            </a:srgbClr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51176" y="30906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E6DA4"/>
                </a:solidFill>
              </a:rPr>
              <a:t>→ nel referto: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551176" y="32918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2E6DA4"/>
                </a:solidFill>
              </a:rPr>
              <a:t>Sezione principale con nota contestualizzante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54296" y="594360"/>
            <a:ext cx="20574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54296" y="594360"/>
            <a:ext cx="2057400" cy="8229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27448" y="621792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TIER</a:t>
            </a:r>
            <a:endParaRPr lang="en-US" sz="1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III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77256" y="658368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VUS — Significato Incerto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64024" y="150876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30" dirty="0">
                <a:solidFill>
                  <a:srgbClr val="4A4A4A"/>
                </a:solidFill>
              </a:rPr>
              <a:t>Variante non classificata o con evidenze insufficienti. Biologicamente plausibile ma non dimostrata.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4727448" y="3063240"/>
            <a:ext cx="1920240" cy="1188720"/>
          </a:xfrm>
          <a:prstGeom prst="rect">
            <a:avLst/>
          </a:prstGeom>
          <a:solidFill>
            <a:srgbClr val="E07B39">
              <a:alpha val="12000"/>
            </a:srgbClr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64024" y="30906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07B39"/>
                </a:solidFill>
              </a:rPr>
              <a:t>→ nel referto: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764024" y="32918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E07B39"/>
                </a:solidFill>
              </a:rPr>
              <a:t>Sezione separata con disclaimer standard esplicito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867144" y="594360"/>
            <a:ext cx="20574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867144" y="594360"/>
            <a:ext cx="2057400" cy="82296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0296" y="621792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TIER</a:t>
            </a:r>
            <a:endParaRPr lang="en-US" sz="1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IV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690104" y="658368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Variante benigna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976872" y="150876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30" dirty="0">
                <a:solidFill>
                  <a:srgbClr val="4A4A4A"/>
                </a:solidFill>
              </a:rPr>
              <a:t>Presente in popolazione generale. Nessuna evidenza di patogenicità somatica rilevante.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6940296" y="3063240"/>
            <a:ext cx="1920240" cy="1188720"/>
          </a:xfrm>
          <a:prstGeom prst="rect">
            <a:avLst/>
          </a:prstGeom>
          <a:solidFill>
            <a:srgbClr val="4A4A4A">
              <a:alpha val="12000"/>
            </a:srgbClr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76872" y="30906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A4A4A"/>
                </a:solidFill>
              </a:rPr>
              <a:t>→ nel referto: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976872" y="32918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4A4A4A"/>
                </a:solidFill>
              </a:rPr>
              <a:t>Non refertare (o sezione opzionale separata)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6E4F0"/>
                </a:solidFill>
              </a:rPr>
              <a:t>S.C. Anatomia Patologica · ASST FBF Sacco · Uso interno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37160" y="4572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Rilevanza Clinica per Sede Tumorale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" y="4572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⭐⭐⭐ alta · ⭐⭐ potenziale · ⭐ limitata · — N/A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594360"/>
          <a:ext cx="8869680" cy="4206240"/>
        </p:xfrm>
        <a:graphic>
          <a:graphicData uri="http://schemas.openxmlformats.org/drawingml/2006/table">
            <a:tbl>
              <a:tblPr/>
              <a:tblGrid>
                <a:gridCol w="1965960"/>
                <a:gridCol w="822960"/>
                <a:gridCol w="731520"/>
                <a:gridCol w="868680"/>
                <a:gridCol w="960120"/>
                <a:gridCol w="822960"/>
                <a:gridCol w="2697480"/>
              </a:tblGrid>
              <a:tr h="3235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Gene / Alterazione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Polmone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CRC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Gastrico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Melanoma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Tiroide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</a:rPr>
                        <a:t>Farmaco principale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35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2E6DA4"/>
                          </a:solidFill>
                        </a:rPr>
                        <a:t>EGFR SNV/CNV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⭐⭐⭐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Osimertinib · Gefitinib (TKI)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5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2E6DA4"/>
                          </a:solidFill>
                        </a:rPr>
                        <a:t>KRAS/NRAS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⭐⭐⭐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Sotorasib (G12C) · anti-EGFR esclusione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5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2E6DA4"/>
                          </a:solidFill>
                        </a:rPr>
                        <a:t>BRAF V600E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⭐⭐⭐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⭐⭐⭐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Dabrafenib + Trametinib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5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2E6DA4"/>
                          </a:solidFill>
                        </a:rPr>
                        <a:t>ALK fusioni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⭐⭐⭐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Alectinib · Brigatinib · Lorlatinib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5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2E6DA4"/>
                          </a:solidFill>
                        </a:rPr>
                        <a:t>ROS1 fusioni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⭐⭐⭐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Entrectinib · Crizotinib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5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2E6DA4"/>
                          </a:solidFill>
                        </a:rPr>
                        <a:t>NTRK1/2/3 fusioni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Larotrectinib · Entrectinib (pan-tumor)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5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2E6DA4"/>
                          </a:solidFill>
                        </a:rPr>
                        <a:t>RET fusioni/mut.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⭐⭐⭐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Selpercatinib · Pralsetinib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5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2E6DA4"/>
                          </a:solidFill>
                        </a:rPr>
                        <a:t>ERBB2/CNV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⭐⭐⭐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Trastuzumab · T-DXd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5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2E6DA4"/>
                          </a:solidFill>
                        </a:rPr>
                        <a:t>MET ex14 skip/CNV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⭐⭐⭐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Tepotinib · Capmatinib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5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2E6DA4"/>
                          </a:solidFill>
                        </a:rPr>
                        <a:t>FGFR1/2/3 fusioni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Erdafitinib (urotelio) · Pemigatinib (colangio)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5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1B7A40"/>
                          </a:solidFill>
                        </a:rPr>
                        <a:t>MSI-H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⭐⭐⭐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1B7A40"/>
                          </a:solidFill>
                        </a:rPr>
                        <a:t>Pembrolizumab (pan-tumor)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5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2E6DA4"/>
                          </a:solidFill>
                        </a:rPr>
                        <a:t>POLE mut.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⭐⭐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</a:rPr>
                        <a:t>Predittivo immunotp. (TMB ultraelevata)</a:t>
                      </a:r>
                      <a:endParaRPr lang="en-US" sz="78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6E4F0"/>
                </a:solidFill>
              </a:rPr>
              <a:t>S.C. Anatomia Patologica · ASST FBF Sacco · Uso interno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37160" y="4572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Struttura Consigliata del Referto NGS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" y="4572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Il clinico deve trovare le info actionable in 10 secondi · Parte B: usa l’Assistente di Refertazione NGS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594360"/>
            <a:ext cx="2084832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594360"/>
            <a:ext cx="2084832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" y="612648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[1]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621792"/>
            <a:ext cx="15361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DATI TECNICI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0040" y="1325880"/>
            <a:ext cx="1920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</a:rPr>
              <a:t>Nome kit e versione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</a:rPr>
              <a:t>Tipo campione · fissazione · anno blocco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</a:rPr>
              <a:t>Cellularità tumorale stimata (%)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</a:rPr>
              <a:t>Copertura media (X) · limite VAF (%)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41448" y="594360"/>
            <a:ext cx="2084832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41448" y="594360"/>
            <a:ext cx="2084832" cy="658368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612648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[2]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944368" y="621792"/>
            <a:ext cx="15361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RISULTATI PRINCIPALI (Tier I–II)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532888" y="1325880"/>
            <a:ext cx="1920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</a:rPr>
              <a:t>Alterazioni actionable per quel tumore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</a:rPr>
              <a:t>MSI status (sempre)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</a:rPr>
              <a:t>CNV validati: EGFR · ERBB2 · MET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</a:rPr>
              <a:t>Fusioni rilevate con gene partner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54296" y="594360"/>
            <a:ext cx="2084832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54296" y="594360"/>
            <a:ext cx="2084832" cy="65836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27448" y="612648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[3]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157216" y="621792"/>
            <a:ext cx="15361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ALTRI RISCONTRI MOLECOLARI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45736" y="1325880"/>
            <a:ext cx="1920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</a:rPr>
              <a:t>VUS con disclaimer esplicito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</a:rPr>
              <a:t>Varianti Tier II in altri tumori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</a:rPr>
              <a:t>ALK expression imbalance (se presente)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</a:rPr>
              <a:t>→ NON modificano terapia attuale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867144" y="594360"/>
            <a:ext cx="2084832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67144" y="594360"/>
            <a:ext cx="2084832" cy="65836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0296" y="612648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[4]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370064" y="621792"/>
            <a:ext cx="15361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</a:rPr>
              <a:t>NOTE TECNICHE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958584" y="1325880"/>
            <a:ext cx="1920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</a:rPr>
              <a:t>Database: OncoKB + versione + data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</a:rPr>
              <a:t>Limitazioni specifiche del campione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</a:rPr>
              <a:t>Pannello completo disponibile su richiesta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4A4A4A"/>
                </a:solidFill>
              </a:rPr>
              <a:t>Concordanza MSI/IHC MMR se disponibile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6E4F0"/>
                </a:solidFill>
              </a:rPr>
              <a:t>S.C. Anatomia Patologica · ASST FBF Sacco · Uso interno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37160" y="4572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Checklist Pre-Firma — Controllo Qualità del Referto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" y="612648"/>
            <a:ext cx="4251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612648"/>
            <a:ext cx="201168" cy="182880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675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6DA4"/>
                </a:solidFill>
              </a:rPr>
              <a:t>Campione &amp; Qualità analitica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4A4A4A"/>
                </a:solidFill>
              </a:rPr>
              <a:t>☐  Cellularità tumorale stimata dichiarata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4A4A4A"/>
                </a:solidFill>
              </a:rPr>
              <a:t>☐  Copertura media e limite VAF riportati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4A4A4A"/>
                </a:solidFill>
              </a:rPr>
              <a:t>☐  Qualità RNA dichiarata se fusioni refertate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4A4A4A"/>
                </a:solidFill>
              </a:rPr>
              <a:t>☐  Malfissazione/degradazione segnalata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09160" y="612648"/>
            <a:ext cx="4251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612648"/>
            <a:ext cx="201168" cy="1828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6675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</a:rPr>
              <a:t>Alterazioni principali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83480" y="960120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4A4A4A"/>
                </a:solidFill>
              </a:rPr>
              <a:t>☐  Tier I contestualizzato per quel tumore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4A4A4A"/>
                </a:solidFill>
              </a:rPr>
              <a:t>☐  Implicazione terapeutica esplicitata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4A4A4A"/>
                </a:solidFill>
              </a:rPr>
              <a:t>☐  MSI con concordanza IHC MMR se disponibile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4A4A4A"/>
                </a:solidFill>
              </a:rPr>
              <a:t>☐  CNV: solo i 3 validati — dichiarato nel referto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2578608"/>
            <a:ext cx="4251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578608"/>
            <a:ext cx="201168" cy="1828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334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Fusioni &amp; marker speciali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2926080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4A4A4A"/>
                </a:solidFill>
              </a:rPr>
              <a:t>☐  Fusioni: gene partner e tier di rilevanza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4A4A4A"/>
                </a:solidFill>
              </a:rPr>
              <a:t>☐  ALK imbalance: trigger reflex, non fusione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4A4A4A"/>
                </a:solidFill>
              </a:rPr>
              <a:t>☐  POLE mut.: valutata con TMB e MSI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4A4A4A"/>
                </a:solidFill>
              </a:rPr>
              <a:t>☐  Nessuna sovra-interpretazione dei dati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09160" y="2578608"/>
            <a:ext cx="4251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578608"/>
            <a:ext cx="201168" cy="18288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26334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7B39"/>
                </a:solidFill>
              </a:rPr>
              <a:t>VUS &amp; documentazione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83480" y="2926080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4A4A4A"/>
                </a:solidFill>
              </a:rPr>
              <a:t>☐  VUS in sezione separata con disclaimer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4A4A4A"/>
                </a:solidFill>
              </a:rPr>
              <a:t>☐  Nessuna VUS spacciata come patogenetica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4A4A4A"/>
                </a:solidFill>
              </a:rPr>
              <a:t>☐  Database e versione citati nel referto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4A4A4A"/>
                </a:solidFill>
              </a:rPr>
              <a:t>☐  Data di annotazione riportata (le classi cambiano)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28600" y="461772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2E6DA4"/>
                </a:solidFill>
              </a:rPr>
              <a:t>Nessuna di queste domande è banale — ognuna copre un punto di fallimento reale nella refertazione NGS.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6E4F0"/>
                </a:solidFill>
              </a:rPr>
              <a:t>S.C. Anatomia Patologica · ASST FBF Sacco · Uso interno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37160" y="4572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Trappole Frequenti &amp; Note Critiche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" y="612648"/>
            <a:ext cx="4251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722376"/>
            <a:ext cx="384048" cy="38404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22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70408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07B39"/>
                </a:solidFill>
              </a:rPr>
              <a:t>Molte VUS nel report — cosa faccio?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161288"/>
            <a:ext cx="397764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23444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A4A4A"/>
                </a:solidFill>
              </a:rPr>
              <a:t>Le VUS sono inevitabili con 50 geni. Sezione separata + disclaimer standard. Non commentarle come 'potenzialmente significative'. Non cambiano la terapia attuale. Rivalutazione periodica possibile.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09160" y="612648"/>
            <a:ext cx="4251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722376"/>
            <a:ext cx="384048" cy="384048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722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0" y="70408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E6DA4"/>
                </a:solidFill>
              </a:rPr>
              <a:t>TMB richiesta — il pannello è sufficiente?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0" y="1161288"/>
            <a:ext cx="397764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23444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A4A4A"/>
                </a:solidFill>
              </a:rPr>
              <a:t>Con 50 geni la stima TMB è indicativa, non precisa per cutoff terapeutici. Refertare con disclaimer: 'TMB stimata su pannello targeted — per decisioni terapeutiche basate su TMB considerare pannello esteso.'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8600" y="2624328"/>
            <a:ext cx="4251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734056"/>
            <a:ext cx="384048" cy="3840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271576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C0392B"/>
                </a:solidFill>
              </a:rPr>
              <a:t>MSI-NGS e IHC MMR discordano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172968"/>
            <a:ext cx="397764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4612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A4A4A"/>
                </a:solidFill>
              </a:rPr>
              <a:t>Eseguire PCR MSI tradizionale come arbitro. Possibili cause: mutazione missense MMR con espressione conservata, FFPE degradato (falsi positivi MSI-NGS), eterogeneità tumorale intratumorale.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09160" y="2624328"/>
            <a:ext cx="4251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734056"/>
            <a:ext cx="384048" cy="38404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03520" y="271576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B3A6B"/>
                </a:solidFill>
              </a:rPr>
              <a:t>Il clinico chiede: 'perché non il gene X?'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46320" y="3172968"/>
            <a:ext cx="397764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24612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A4A4A"/>
                </a:solidFill>
              </a:rPr>
              <a:t>Il pannello copre regioni esoniche specifiche di 50 geni predefiniti. Un negativo non esclude mutazioni in regioni non targetizzate. Per geni non coperti: test dedicato (FISH, Sanger, pannello esteso).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028090"/>
                </a:solidFill>
              </a:rPr>
              <a:t>Take-home messages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117043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6E4F0"/>
                </a:solidFill>
              </a:rPr>
              <a:t>Il pannello fa 4 cose diverse: SNV/InsDel, CNV (solo 3 validati), Fusioni (da RNA), MSI. Ogni categoria ha limiti propri.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8549640" cy="9144"/>
          </a:xfrm>
          <a:prstGeom prst="rect">
            <a:avLst/>
          </a:prstGeom>
          <a:solidFill>
            <a:srgbClr val="2E6DA4">
              <a:alpha val="40000"/>
            </a:srgbClr>
          </a:solidFill>
          <a:ln w="12700">
            <a:solidFill>
              <a:srgbClr val="2E6DA4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0136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18288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6E4F0"/>
                </a:solidFill>
              </a:rPr>
              <a:t>La cellularità tumorale va stimata dal patologo su H&amp;E prima dell'invio. Sotto il 20% la sensibilità si riduce significativamente.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322576"/>
            <a:ext cx="8549640" cy="9144"/>
          </a:xfrm>
          <a:prstGeom prst="rect">
            <a:avLst/>
          </a:prstGeom>
          <a:solidFill>
            <a:srgbClr val="2E6DA4">
              <a:alpha val="40000"/>
            </a:srgbClr>
          </a:solidFill>
          <a:ln w="12700">
            <a:solidFill>
              <a:srgbClr val="2E6DA4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5973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24871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6E4F0"/>
                </a:solidFill>
              </a:rPr>
              <a:t>Usa l’Assistente di Refertazione NGS per la Parte B: sede, gene, variante, VAF → frase già classificata. Le VUS in sezione separata con disclaimer standard.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980944"/>
            <a:ext cx="8549640" cy="9144"/>
          </a:xfrm>
          <a:prstGeom prst="rect">
            <a:avLst/>
          </a:prstGeom>
          <a:solidFill>
            <a:srgbClr val="2E6DA4">
              <a:alpha val="40000"/>
            </a:srgbClr>
          </a:solidFill>
          <a:ln w="12700">
            <a:solidFill>
              <a:srgbClr val="2E6DA4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11810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31455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6E4F0"/>
                </a:solidFill>
              </a:rPr>
              <a:t>MSI-H va sempre refertato indipendente dalla sede. ALK imbalance non è fusione confermata — trigger per reflex, non risultato definitivo.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639312"/>
            <a:ext cx="8549640" cy="9144"/>
          </a:xfrm>
          <a:prstGeom prst="rect">
            <a:avLst/>
          </a:prstGeom>
          <a:solidFill>
            <a:srgbClr val="2E6DA4">
              <a:alpha val="40000"/>
            </a:srgbClr>
          </a:solidFill>
          <a:ln w="12700">
            <a:solidFill>
              <a:srgbClr val="2E6DA4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77647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38039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6E4F0"/>
                </a:solidFill>
              </a:rPr>
              <a:t>Il dato CNV-NGS è un segnale di allerta: per decisioni terapeutiche ERBB2 serve conferma IHC/FISH. Cita sempre database e data di annotazione.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4320" y="47548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A9EC0"/>
                </a:solidFill>
              </a:rPr>
              <a:t>S.C. Anatomia Patologica · ASST FBF Sacco · 2026 · Uso interno didattico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3035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 — morfologia + dato molecolare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56032" y="621792"/>
            <a:ext cx="425196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621792"/>
            <a:ext cx="201168" cy="20574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85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30352" y="859536"/>
            <a:ext cx="195590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Adenocarcinoma scarsamente differenziato G3, infiltrato linfocitario peritumorale (tumor-infiltrating lymphocytes), architettura mucinosa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82012" y="713232"/>
            <a:ext cx="0" cy="18745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7051" y="685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467051" y="859536"/>
            <a:ext cx="18708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MSI-H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7051" y="1188720"/>
            <a:ext cx="18708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Conferma sospetto Lynch / MMR deficiente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467051" y="1472184"/>
            <a:ext cx="18708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IHC MMR: MLH1/MSH2/MSH6/PMS2 — se già non eseguita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621792"/>
            <a:ext cx="425196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621792"/>
            <a:ext cx="201168" cy="2057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685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83480" y="859536"/>
            <a:ext cx="195590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Adenocarcinoma tubulare G2 classico, CK20+/CDX2+, SATB2+, morfologia convenzionale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35140" y="713232"/>
            <a:ext cx="0" cy="18745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20179" y="685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920179" y="859536"/>
            <a:ext cx="18708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KRAS p.G12D VAF 44%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20179" y="1188720"/>
            <a:ext cx="18708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Esclusione anti-EGFR — comunicare all'oncologo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20179" y="1472184"/>
            <a:ext cx="18708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reflex IHC necessario. Tier I.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6032" y="2770632"/>
            <a:ext cx="425196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2770632"/>
            <a:ext cx="201168" cy="20574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834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30352" y="3008376"/>
            <a:ext cx="195590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Adenocarcinoma tipo cribroide, budding di grado 3 al fronte di invasione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82012" y="2862072"/>
            <a:ext cx="0" cy="18745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67051" y="2834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467051" y="3008376"/>
            <a:ext cx="18708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BRAF V600E VAF 38%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67051" y="3337560"/>
            <a:ext cx="18708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Indica triplet therapy (encorafenib+binimetinib+cetuximab)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467051" y="3621024"/>
            <a:ext cx="18708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che KRAS/NRAS siano wild-type — richiesto per la tripletta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2770632"/>
            <a:ext cx="425196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2770632"/>
            <a:ext cx="201168" cy="2057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2834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983480" y="3008376"/>
            <a:ext cx="195590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Carcinoma mucinoso G2, componente a cellule ad anello con castone &gt;50%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835140" y="2862072"/>
            <a:ext cx="0" cy="18745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20179" y="2834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920179" y="3008376"/>
            <a:ext cx="18708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ERBB2 amplificato (NGS)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20179" y="3337560"/>
            <a:ext cx="18708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Trigger reflex IHC HER2 + FISH se IHC 2+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920179" y="3621024"/>
            <a:ext cx="18708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CNV-NGS non è gold standard. IHC/FISH obbligatori prima di refertare come amplificato.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EFF3F8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S.C. Anatomia Patologica  ·  ASST FBF Sacco  ·  Pannello NGS 50 Geni  · 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3035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NSCLC — morfologia + dato molecolare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56032" y="621792"/>
            <a:ext cx="425196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621792"/>
            <a:ext cx="201168" cy="20574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85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30352" y="859536"/>
            <a:ext cx="195590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Adenocarcinoma acinare/papillare, TTF1+, non fumatore, no necrosi. Morfologia 'EGFR-like'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82012" y="713232"/>
            <a:ext cx="0" cy="18745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7051" y="685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467051" y="859536"/>
            <a:ext cx="18708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EGFR del19 VAF 41%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7051" y="1188720"/>
            <a:ext cx="18708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Tier I — osimertinib. Morfologia coerente.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467051" y="1472184"/>
            <a:ext cx="18708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reflex. Dato sufficiente per il clinico.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621792"/>
            <a:ext cx="425196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621792"/>
            <a:ext cx="201168" cy="2057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685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83480" y="859536"/>
            <a:ext cx="195590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Adenocarcinoma solido G3, TTF1 focale. IHC ALK (D5F3) non eseguita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35140" y="713232"/>
            <a:ext cx="0" cy="18745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20179" y="685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920179" y="859536"/>
            <a:ext cx="18708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 expression imbalance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20179" y="1188720"/>
            <a:ext cx="18708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Non è fusione — triggerare IHC ALK D5F3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20179" y="1472184"/>
            <a:ext cx="18708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≠ fusione. IHC D5F3 Ventana obbligatoria prima di refertare.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6032" y="2770632"/>
            <a:ext cx="425196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2770632"/>
            <a:ext cx="201168" cy="20574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834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30352" y="3008376"/>
            <a:ext cx="195590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Carcinoma squamocellulare G2, CK5/6+, p40+, morfologia classica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82012" y="2862072"/>
            <a:ext cx="0" cy="18745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67051" y="2834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467051" y="3008376"/>
            <a:ext cx="18708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PIK3CA E545K VAF 29%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67051" y="3337560"/>
            <a:ext cx="18708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Tier III — VUS, non actionable in carcinoma squamoso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467051" y="3621024"/>
            <a:ext cx="18708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PIK3CA non ha indicazione in squamoso polmonare. Refertare con disclaimer VUS.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2770632"/>
            <a:ext cx="425196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2770632"/>
            <a:ext cx="201168" cy="20574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2834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983480" y="3008376"/>
            <a:ext cx="195590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Adenocarcinoma con pattern lepidico predominante, TTF1+, no fumo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835140" y="2862072"/>
            <a:ext cx="0" cy="18745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20179" y="2834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920179" y="3008376"/>
            <a:ext cx="18708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exon 14 skipping VAF 35%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20179" y="3337560"/>
            <a:ext cx="18708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Tier I — tepotinib/capmatinib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920179" y="3621024"/>
            <a:ext cx="18708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ex14: mutazione splice site, non CNV. Actionable. Verificare assenza EGFR/ALK.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EFF3F8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S.C. Anatomia Patologica  ·  ASST FBF Sacco  ·  Pannello NGS 50 Geni  · 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3035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Adenocarcinoma gastrico e GEJ — morfologia + dato molecolare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56032" y="621792"/>
            <a:ext cx="425196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621792"/>
            <a:ext cx="201168" cy="20574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85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30352" y="859536"/>
            <a:ext cx="195590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Adenocarcinoma tubulare G2, EBV-, HER2 IHC 3+ già noto, Lauren intestinale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82012" y="713232"/>
            <a:ext cx="0" cy="18745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7051" y="685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467051" y="859536"/>
            <a:ext cx="18708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ERBB2 amplificato (NGS concordante con IHC)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7051" y="1188720"/>
            <a:ext cx="18708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Tier I — trastuzumab. Dato IHC prevalente, NGS a conferma.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467051" y="1472184"/>
            <a:ext cx="18708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IHC HER2 già positiva: NGS è ridondante ma non contraddice. Ok firmare.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621792"/>
            <a:ext cx="425196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621792"/>
            <a:ext cx="201168" cy="205740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685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83480" y="859536"/>
            <a:ext cx="195590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Adenocarcinoma diffuso a cellule ad anello con castone, CDH1 loss IHC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35140" y="713232"/>
            <a:ext cx="0" cy="18745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20179" y="685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920179" y="859536"/>
            <a:ext cx="18708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MSI-H + CDH1 frameshift VAF 52%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20179" y="1188720"/>
            <a:ext cx="18708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MSI-H: pembrolizumab. CDH1: segnalare sospetto germinale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20179" y="1472184"/>
            <a:ext cx="18708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CDH1 somatico vs germinale non distinguibile da FFPE. Segnalare al clinico per counseling genetico.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6032" y="2770632"/>
            <a:ext cx="425196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2770632"/>
            <a:ext cx="201168" cy="2057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834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30352" y="3008376"/>
            <a:ext cx="195590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Adenocarcinoma poco coesivo G3, HER2 IHC 0, Lauren diffuso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82012" y="2862072"/>
            <a:ext cx="0" cy="18745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67051" y="2834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467051" y="3008376"/>
            <a:ext cx="18708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FGFR2 amplificato (NGS)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67051" y="3337560"/>
            <a:ext cx="18708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Tier II — valutare trial FGFR2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467051" y="3621024"/>
            <a:ext cx="18708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FGFR2 CNV-NGS è segnale. Conferma FISH raccomandata prima di indirizzare a trial.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2770632"/>
            <a:ext cx="425196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2770632"/>
            <a:ext cx="201168" cy="20574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2834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983480" y="3008376"/>
            <a:ext cx="195590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Adenocarcinoma tubulo-papillare G2, EBV+, PD-L1 CPS già noto &gt;10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835140" y="2862072"/>
            <a:ext cx="0" cy="18745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20179" y="2834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920179" y="3008376"/>
            <a:ext cx="18708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MSS, nessuna alterazione actionable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20179" y="3337560"/>
            <a:ext cx="18708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Nessuna indicazione aggiuntiva da NGS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920179" y="3621024"/>
            <a:ext cx="18708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EBV+ MSS: pembrolizumab indicato per PD-L1 CPS, non per MSI. NGS non aggiunge in questo caso.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EFF3F8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S.C. Anatomia Patologica  ·  ASST FBF Sacco  ·  Pannello NGS 50 Geni  ·  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3035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il NGS smentisce il vetrino — casi da non ignorare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60350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vetrino non mente, ma a volte non dice tutto. Questi scenari richiedono rivalutazione attiva.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896112"/>
            <a:ext cx="4251960" cy="914400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896112"/>
            <a:ext cx="201168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896112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0352" y="95097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IHC ALK negativa + NGS ALK expression imbalance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1170432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H&amp;E: IHC D5F3 score 0 — negativa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73452" y="1170432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NGS: ALK imbalance rilevata su RNA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0352" y="14630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Ripetere su altro blocco se RNA subottimale. Non refertare fusione. Nota: falso positivo probabile.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896112"/>
            <a:ext cx="4251960" cy="914400"/>
          </a:xfrm>
          <a:prstGeom prst="rect">
            <a:avLst/>
          </a:prstGeom>
          <a:solidFill>
            <a:srgbClr val="FEF2F2"/>
          </a:solidFill>
          <a:ln w="19050">
            <a:solidFill>
              <a:srgbClr val="991B1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896112"/>
            <a:ext cx="201168" cy="91440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896112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83480" y="95097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IHC MMR intatta + NGS MSI-H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1170432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H&amp;E: MLH1/MSH2/MSH6/PMS2 tutti positivi (intatti)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926580" y="1170432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NGS: MSI-H (126 marcatori instabili)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83480" y="14630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Discordanza reale — reflex PCR MSI obbligatorio. Non refertare MSI-H senza conferma.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" y="2907792"/>
            <a:ext cx="4251960" cy="914400"/>
          </a:xfrm>
          <a:prstGeom prst="rect">
            <a:avLst/>
          </a:prstGeom>
          <a:solidFill>
            <a:srgbClr val="FEF2F2"/>
          </a:solidFill>
          <a:ln w="19050">
            <a:solidFill>
              <a:srgbClr val="991B1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2907792"/>
            <a:ext cx="201168" cy="91440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2907792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0352" y="296265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Morfologia da carcinoma primitivo + IDH1 mutato inatteso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" y="3182112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H&amp;E: Adenocarcinoma ghiandolare, sede polmone, TTF1+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473452" y="3182112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NGS: IDH1 R132H VAF 38%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30352" y="34747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IDH1 in NSCLC è raro — considerare metastasi da glioma o colangiocarcinoma. Rivalutare contesto clinico.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2907792"/>
            <a:ext cx="4251960" cy="914400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2907792"/>
            <a:ext cx="201168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2907792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983480" y="296265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 altissimo in gene oncosoppressore + cellularità bassa stimata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83480" y="3182112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H&amp;E: Cellularità stimata ~25% su H&amp;E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926580" y="3182112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NGS: TP53 R248W VAF 78%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83480" y="34747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VAF 78% con cellularità 25% suggerisce rivalutazione: cellularità sottostimata su H&amp;E o LOH. Rivedere il vetrino.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EFF3F8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S.C. Anatomia Patologica  ·  ASST FBF Sacco  ·  Pannello NGS 50 Geni  ·  2026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3035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 IHC / FISH — quando il NGS da solo non basta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60350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 scenari richiedono un test di conferma prima di refertare l'implicazione clinica.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8631936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914400"/>
            <a:ext cx="201168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8755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 expression imbalance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3350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NGS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0" y="11155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39312" y="9875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IHC ALK (D5F3 Ventana)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39312" y="133502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 da eseguire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80760" y="11155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92240" y="100584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≠ fusione. Sensibilità IHC &gt;95% — è sufficiente per la terapia se 3+.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56032" y="1709928"/>
            <a:ext cx="8631936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1709928"/>
            <a:ext cx="201168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17830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ERBB2 amplificato (CNV-NGS)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21305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NGS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0" y="19110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639312" y="17830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IHC HER2 → FISH se IHC 2+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39312" y="21305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 da eseguire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80760" y="19110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92240" y="180136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CNV-NGS è segnale di allerta. La terapia richiede conferma IHC/FISH secondo linee guida.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56032" y="2505456"/>
            <a:ext cx="8631936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" y="2505456"/>
            <a:ext cx="201168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5786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amplificato (CNV-NGS)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29260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NGS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00400" y="27066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639312" y="25786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 MET (CEP7 ratio)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39312" y="29260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 da eseguire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80760" y="27066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492240" y="2596896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Amplificazione vera vs polisomia. Solo amplificazione reale è actionable per tepotinib/capmatinib.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56032" y="3300984"/>
            <a:ext cx="8631936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6032" y="3300984"/>
            <a:ext cx="201168" cy="71323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3741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MSI-H (NGS) + IHC MMR intatta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37216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NGS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00400" y="35021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3639312" y="337413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 MSI (Bethesda classico)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639312" y="3721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 da eseguire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080760" y="35021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492240" y="339242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Discordanza NGS/IHC: l'MSI-PCR è il gold standard per la decisione terapeutica con pembrolizumab.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56032" y="4096512"/>
            <a:ext cx="8631936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6032" y="4096512"/>
            <a:ext cx="201168" cy="713232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416966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ROS1 fusione (RNA-NGS)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48640" y="45171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NGS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200400" y="4297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3639312" y="41696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IHC ROS1 (D4D6) o FISH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639312" y="45171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 da eseguire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080760" y="4297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6492240" y="4187952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NSCLC la conferma è raccomandata dalle LG ESMO. IHC ha alta sensibilità se 3+.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EFF3F8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S.C. Anatomia Patologica  ·  ASST FBF Sacco  ·  Pannello NGS 50 Geni  ·  2026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3035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NON facciamo — limiti rilevanti per la diagnosi istologica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56032" y="658368"/>
            <a:ext cx="8631936" cy="713232"/>
          </a:xfrm>
          <a:prstGeom prst="rect">
            <a:avLst/>
          </a:prstGeom>
          <a:solidFill>
            <a:srgbClr val="FEF2F2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658368"/>
            <a:ext cx="201168" cy="71323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7223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Distinzione somatico vs germinale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0058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Analizziamo solo FFPE tumorale. Se trovi CDH1, BRCA1/2, MLH1 con VAF ~50%: segnala al clinico per test su sangue. Non possiamo escludere variante germinale.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6032" y="1463040"/>
            <a:ext cx="8631936" cy="713232"/>
          </a:xfrm>
          <a:prstGeom prst="rect">
            <a:avLst/>
          </a:prstGeom>
          <a:solidFill>
            <a:srgbClr val="FEF2F2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1463040"/>
            <a:ext cx="201168" cy="71323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527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TMB — Tumor Mutational Burden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18105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geni non bastano per un calcolo affidabile. Non refertare TMB da questo pannello. Per PD-L1 CPS/TPS: test IHC separato su richiesta.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6032" y="2267712"/>
            <a:ext cx="8631936" cy="713232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2267712"/>
            <a:ext cx="201168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3317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CNV su geni non validati (es. FGFR2, CDK4, CCND1…)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261518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EGFR, ERBB2 e MET sono validati per CNV. Gli altri geni del pannello producono un segnale CNV non refertabile come standard diagnostico.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6032" y="3072384"/>
            <a:ext cx="8631936" cy="713232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3072384"/>
            <a:ext cx="201168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1363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Fusioni su campioni con RNA degradato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4198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FFPE vecchio (&gt;5 anni) o campioni piccoli possono dare falsi negativi sulle fusioni. Se morfologia suggerisce ALK/ROS1 e NGS è negativo: non escludere. Fare IHC.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6032" y="3877056"/>
            <a:ext cx="8631936" cy="713232"/>
          </a:xfrm>
          <a:prstGeom prst="rect">
            <a:avLst/>
          </a:prstGeom>
          <a:solidFill>
            <a:srgbClr val="E8F4F5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" y="3877056"/>
            <a:ext cx="201168" cy="713232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9410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Classificazione tumorale (WHO) — non è compito del pannello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22452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pannello supporta la diagnosi, non la sostituisce. IDH1 R132H in un glioma conferma la classificazione; non la produce. Il vetrino rimane il punto di partenza.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EFF3F8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S.C. Anatomia Patologica  ·  ASST FBF Sacco  ·  Pannello NGS 50 Geni  ·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Pannello NGS 50 Geni — Guida alla Refertazione</dc:title>
  <dc:subject>PptxGenJS Presentation</dc:subject>
  <dc:creator>S.C. Anatomia Patologica — ASST FBF Sacco</dc:creator>
  <cp:lastModifiedBy>S.C. Anatomia Patologica — ASST FBF Sacco</cp:lastModifiedBy>
  <cp:revision>1</cp:revision>
  <dcterms:created xsi:type="dcterms:W3CDTF">2026-03-13T18:37:16Z</dcterms:created>
  <dcterms:modified xsi:type="dcterms:W3CDTF">2026-03-13T18:37:16Z</dcterms:modified>
</cp:coreProperties>
</file>